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DM Sans Medium"/>
      <p:regular r:id="rId26"/>
      <p:bold r:id="rId27"/>
      <p:italic r:id="rId28"/>
      <p:boldItalic r:id="rId29"/>
    </p:embeddedFont>
    <p:embeddedFont>
      <p:font typeface="DM Sans Light"/>
      <p:regular r:id="rId30"/>
      <p:bold r:id="rId31"/>
      <p:italic r:id="rId32"/>
      <p:boldItalic r:id="rId33"/>
    </p:embeddedFont>
    <p:embeddedFont>
      <p:font typeface="DM Sans SemiBold"/>
      <p:regular r:id="rId34"/>
      <p:bold r:id="rId35"/>
      <p:italic r:id="rId36"/>
      <p:boldItalic r:id="rId37"/>
    </p:embeddedFont>
    <p:embeddedFont>
      <p:font typeface="DM Sans ExtraLight"/>
      <p:regular r:id="rId38"/>
      <p:bold r:id="rId39"/>
      <p:italic r:id="rId40"/>
      <p:boldItalic r:id="rId41"/>
    </p:embeddedFont>
    <p:embeddedFont>
      <p:font typeface="Merriweather"/>
      <p:regular r:id="rId42"/>
      <p:bold r:id="rId43"/>
      <p:italic r:id="rId44"/>
      <p:boldItalic r:id="rId45"/>
    </p:embeddedFont>
    <p:embeddedFont>
      <p:font typeface="DM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kash alaparth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ExtraLight-italic.fntdata"/><Relationship Id="rId42" Type="http://schemas.openxmlformats.org/officeDocument/2006/relationships/font" Target="fonts/Merriweather-regular.fntdata"/><Relationship Id="rId41" Type="http://schemas.openxmlformats.org/officeDocument/2006/relationships/font" Target="fonts/DMSansExtraLight-boldItalic.fntdata"/><Relationship Id="rId44" Type="http://schemas.openxmlformats.org/officeDocument/2006/relationships/font" Target="fonts/Merriweather-italic.fntdata"/><Relationship Id="rId43" Type="http://schemas.openxmlformats.org/officeDocument/2006/relationships/font" Target="fonts/Merriweather-bold.fntdata"/><Relationship Id="rId46" Type="http://schemas.openxmlformats.org/officeDocument/2006/relationships/font" Target="fonts/DMSans-regular.fntdata"/><Relationship Id="rId45" Type="http://schemas.openxmlformats.org/officeDocument/2006/relationships/font" Target="fonts/Merriweath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DMSans-italic.fntdata"/><Relationship Id="rId47" Type="http://schemas.openxmlformats.org/officeDocument/2006/relationships/font" Target="fonts/DMSans-bold.fntdata"/><Relationship Id="rId49" Type="http://schemas.openxmlformats.org/officeDocument/2006/relationships/font" Target="fonts/DM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Light-bold.fntdata"/><Relationship Id="rId30" Type="http://schemas.openxmlformats.org/officeDocument/2006/relationships/font" Target="fonts/DMSansLight-regular.fntdata"/><Relationship Id="rId33" Type="http://schemas.openxmlformats.org/officeDocument/2006/relationships/font" Target="fonts/DMSansLight-boldItalic.fntdata"/><Relationship Id="rId32" Type="http://schemas.openxmlformats.org/officeDocument/2006/relationships/font" Target="fonts/DMSansLight-italic.fntdata"/><Relationship Id="rId35" Type="http://schemas.openxmlformats.org/officeDocument/2006/relationships/font" Target="fonts/DMSansSemiBold-bold.fntdata"/><Relationship Id="rId34" Type="http://schemas.openxmlformats.org/officeDocument/2006/relationships/font" Target="fonts/DMSansSemiBold-regular.fntdata"/><Relationship Id="rId37" Type="http://schemas.openxmlformats.org/officeDocument/2006/relationships/font" Target="fonts/DMSansSemiBold-boldItalic.fntdata"/><Relationship Id="rId36" Type="http://schemas.openxmlformats.org/officeDocument/2006/relationships/font" Target="fonts/DMSansSemiBold-italic.fntdata"/><Relationship Id="rId39" Type="http://schemas.openxmlformats.org/officeDocument/2006/relationships/font" Target="fonts/DMSansExtraLight-bold.fntdata"/><Relationship Id="rId38" Type="http://schemas.openxmlformats.org/officeDocument/2006/relationships/font" Target="fonts/DMSansExtraLigh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DMSansMedium-regular.fntdata"/><Relationship Id="rId25" Type="http://schemas.openxmlformats.org/officeDocument/2006/relationships/slide" Target="slides/slide19.xml"/><Relationship Id="rId28" Type="http://schemas.openxmlformats.org/officeDocument/2006/relationships/font" Target="fonts/DMSansMedium-italic.fntdata"/><Relationship Id="rId27" Type="http://schemas.openxmlformats.org/officeDocument/2006/relationships/font" Target="fonts/DMSansMedium-bold.fntdata"/><Relationship Id="rId29" Type="http://schemas.openxmlformats.org/officeDocument/2006/relationships/font" Target="fonts/DMSans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4-14T19:23:17.536">
    <p:pos x="124" y="2984"/>
    <p:text>Presentation Split:
Nora - Slides 1 and 2
Akash - slides 3 and 4
Connor - Slides 5, 6, 7, and 8
Patrick - Slides 9 and 10
Ryan - Slides 11 and 12
Nora - slides 13 and 14
Will - Slides 15, 16, 17, and 18
1 total reaction
Ryan Jiang reacted with 👍 at 04/14/2025, 7:23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46919c39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46919c3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43cce824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43cce824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72354ee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72354ee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472354ee1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472354ee1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472354ee1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472354ee1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47cecaa09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47cecaa09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43cce8248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43cce8248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47cecaa09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47cecaa09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43cce8248f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43cce8248f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Patrick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43cce8248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43cce8248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Patrick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3cce8248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43cce8248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43cce8248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43cce8248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472354ee1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472354ee1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49779d25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49779d25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4a213d6ba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4a213d6ba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a213d6b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4a213d6b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a213d6ba9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a213d6ba9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bd6c52810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bd6c52810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43cce8248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43cce8248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33" name="Google Shape;133;p2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34" name="Google Shape;134;p2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5" name="Google Shape;135;p23"/>
          <p:cNvSpPr/>
          <p:nvPr>
            <p:ph idx="3" type="pic"/>
          </p:nvPr>
        </p:nvSpPr>
        <p:spPr>
          <a:xfrm>
            <a:off x="4437578" y="2171250"/>
            <a:ext cx="4509600" cy="2775600"/>
          </a:xfrm>
          <a:prstGeom prst="round2DiagRect">
            <a:avLst>
              <a:gd fmla="val 16667" name="adj1"/>
              <a:gd fmla="val 0" name="adj2"/>
            </a:avLst>
          </a:prstGeom>
          <a:noFill/>
          <a:ln>
            <a:noFill/>
          </a:ln>
        </p:spPr>
      </p:sp>
      <p:sp>
        <p:nvSpPr>
          <p:cNvPr id="136" name="Google Shape;136;p2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37" name="Shape 137"/>
        <p:cNvGrpSpPr/>
        <p:nvPr/>
      </p:nvGrpSpPr>
      <p:grpSpPr>
        <a:xfrm>
          <a:off x="0" y="0"/>
          <a:ext cx="0" cy="0"/>
          <a:chOff x="0" y="0"/>
          <a:chExt cx="0" cy="0"/>
        </a:xfrm>
      </p:grpSpPr>
      <p:sp>
        <p:nvSpPr>
          <p:cNvPr id="138" name="Google Shape;138;p2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1" name="Google Shape;141;p2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2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2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4" name="Google Shape;144;p2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45" name="Google Shape;145;p2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49" name="Google Shape;149;p2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50" name="Google Shape;150;p2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54" name="Google Shape;154;p2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55" name="Google Shape;155;p2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156" name="Shape 156"/>
        <p:cNvGrpSpPr/>
        <p:nvPr/>
      </p:nvGrpSpPr>
      <p:grpSpPr>
        <a:xfrm>
          <a:off x="0" y="0"/>
          <a:ext cx="0" cy="0"/>
          <a:chOff x="0" y="0"/>
          <a:chExt cx="0" cy="0"/>
        </a:xfrm>
      </p:grpSpPr>
      <p:sp>
        <p:nvSpPr>
          <p:cNvPr id="157" name="Google Shape;157;p2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2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27"/>
          <p:cNvSpPr/>
          <p:nvPr>
            <p:ph idx="2" type="pic"/>
          </p:nvPr>
        </p:nvSpPr>
        <p:spPr>
          <a:xfrm>
            <a:off x="3726325" y="669925"/>
            <a:ext cx="5220900" cy="4276800"/>
          </a:xfrm>
          <a:prstGeom prst="round2DiagRect">
            <a:avLst>
              <a:gd fmla="val 16667" name="adj1"/>
              <a:gd fmla="val 0" name="adj2"/>
            </a:avLst>
          </a:prstGeom>
          <a:noFill/>
          <a:ln>
            <a:noFill/>
          </a:ln>
        </p:spPr>
      </p:sp>
      <p:sp>
        <p:nvSpPr>
          <p:cNvPr id="161" name="Google Shape;161;p2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62" name="Google Shape;162;p2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163" name="Shape 163"/>
        <p:cNvGrpSpPr/>
        <p:nvPr/>
      </p:nvGrpSpPr>
      <p:grpSpPr>
        <a:xfrm>
          <a:off x="0" y="0"/>
          <a:ext cx="0" cy="0"/>
          <a:chOff x="0" y="0"/>
          <a:chExt cx="0" cy="0"/>
        </a:xfrm>
      </p:grpSpPr>
      <p:sp>
        <p:nvSpPr>
          <p:cNvPr id="164" name="Google Shape;164;p2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165" name="Google Shape;165;p2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166" name="Google Shape;16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p:nvPr>
            <p:ph idx="2" type="pic"/>
          </p:nvPr>
        </p:nvSpPr>
        <p:spPr>
          <a:xfrm>
            <a:off x="3726325" y="669925"/>
            <a:ext cx="5220900" cy="4276800"/>
          </a:xfrm>
          <a:prstGeom prst="round2DiagRect">
            <a:avLst>
              <a:gd fmla="val 16667" name="adj1"/>
              <a:gd fmla="val 0" name="adj2"/>
            </a:avLst>
          </a:prstGeom>
          <a:noFill/>
          <a:ln>
            <a:noFill/>
          </a:ln>
        </p:spPr>
      </p:sp>
      <p:sp>
        <p:nvSpPr>
          <p:cNvPr id="168" name="Google Shape;168;p2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69" name="Google Shape;169;p2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170" name="Google Shape;170;p2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171" name="Shape 171"/>
        <p:cNvGrpSpPr/>
        <p:nvPr/>
      </p:nvGrpSpPr>
      <p:grpSpPr>
        <a:xfrm>
          <a:off x="0" y="0"/>
          <a:ext cx="0" cy="0"/>
          <a:chOff x="0" y="0"/>
          <a:chExt cx="0" cy="0"/>
        </a:xfrm>
      </p:grpSpPr>
      <p:sp>
        <p:nvSpPr>
          <p:cNvPr id="172" name="Google Shape;172;p2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3" name="Google Shape;17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175" name="Google Shape;175;p2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176" name="Google Shape;176;p2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77" name="Google Shape;177;p2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178" name="Shape 178"/>
        <p:cNvGrpSpPr/>
        <p:nvPr/>
      </p:nvGrpSpPr>
      <p:grpSpPr>
        <a:xfrm>
          <a:off x="0" y="0"/>
          <a:ext cx="0" cy="0"/>
          <a:chOff x="0" y="0"/>
          <a:chExt cx="0" cy="0"/>
        </a:xfrm>
      </p:grpSpPr>
      <p:sp>
        <p:nvSpPr>
          <p:cNvPr id="179" name="Google Shape;17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3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1" name="Google Shape;181;p3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2" name="Google Shape;182;p3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3" name="Google Shape;183;p3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4" name="Google Shape;184;p3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5" name="Google Shape;185;p3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6" name="Google Shape;186;p3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7" name="Google Shape;187;p3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8" name="Google Shape;188;p3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9" name="Google Shape;189;p3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0" name="Google Shape;190;p3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1" name="Google Shape;191;p3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2" name="Google Shape;192;p3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3" name="Google Shape;193;p3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4" name="Google Shape;194;p3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5" name="Google Shape;195;p3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6" name="Google Shape;196;p3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7" name="Google Shape;197;p3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8" name="Google Shape;198;p3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9" name="Google Shape;199;p3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0" name="Google Shape;200;p3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1" name="Google Shape;201;p3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2" name="Google Shape;202;p3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3" name="Google Shape;203;p3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4" name="Google Shape;204;p3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5" name="Google Shape;205;p3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6" name="Google Shape;206;p3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7" name="Google Shape;207;p3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8" name="Google Shape;208;p3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3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12" name="Google Shape;212;p3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213" name="Shape 213"/>
        <p:cNvGrpSpPr/>
        <p:nvPr/>
      </p:nvGrpSpPr>
      <p:grpSpPr>
        <a:xfrm>
          <a:off x="0" y="0"/>
          <a:ext cx="0" cy="0"/>
          <a:chOff x="0" y="0"/>
          <a:chExt cx="0" cy="0"/>
        </a:xfrm>
      </p:grpSpPr>
      <p:sp>
        <p:nvSpPr>
          <p:cNvPr id="214" name="Google Shape;214;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15" name="Google Shape;21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6" name="Google Shape;21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eia.gov/environment/emissions/co2_vol_mass.php" TargetMode="External"/><Relationship Id="rId4" Type="http://schemas.openxmlformats.org/officeDocument/2006/relationships/hyperlink" Target="https://legacy.winnipeg.ca/finance/findata/matmgt/documents/2012/682-2012/682-2012_appendix_h-wstp_south_end_plant_process_selection_report/appendix%207.pdf" TargetMode="External"/><Relationship Id="rId9" Type="http://schemas.openxmlformats.org/officeDocument/2006/relationships/hyperlink" Target="https://www.nrel.gov/docs/fy24osti/88335.pdf" TargetMode="External"/><Relationship Id="rId5" Type="http://schemas.openxmlformats.org/officeDocument/2006/relationships/hyperlink" Target="https://www.nature.com/articles/s41467-024-54634-y#Sec25" TargetMode="External"/><Relationship Id="rId6" Type="http://schemas.openxmlformats.org/officeDocument/2006/relationships/hyperlink" Target="https://www.iea.org/reports/projected-costs-of-generating-electricity-2020#downloads" TargetMode="External"/><Relationship Id="rId7" Type="http://schemas.openxmlformats.org/officeDocument/2006/relationships/hyperlink" Target="https://www.eia.gov/electricity/data/browser/#/topic/0?agg=1,0,2&amp;fuel=g&amp;geo=vvvvvvvvvvvvo&amp;sec=o3g&amp;linechart=ELEC.GEN.ALL-NEW-99.M~ELEC.GEN.ALL-MAT-99.M~ELEC.GEN.ALL-ENC-99.M~ELEC.GEN.ALL-WNC-99.M~ELEC.GEN.ALL-SAT-99.M~ELEC.GEN.ALL-ESC-99.M~ELEC.GEN.ALL-MTN-99.M~ELEC.GEN.ALL-WSC-99.M~ELEC.GEN.ALL-PCN-99.M~ELEC.GEN.ALL-PCC-99.M&amp;columnchart=ELEC.GEN.ALL-NEW-99.M~ELEC.GEN.ALL-MAT-99.M~ELEC.GEN.ALL-ENC-99.M~ELEC.GEN.ALL-WNC-99.M~ELEC.GEN.ALL-SAT-99.M~ELEC.GEN.ALL-ESC-99.M~ELEC.GEN.ALL-MTN-99.M~ELEC.GEN.ALL-WSC-99.M~ELEC.GEN.ALL-PCN-99.M~ELEC.GEN.ALL-PCC-99.M&amp;map=ELEC.GEN.ALL-US-99.M&amp;freq=M&amp;start=200101&amp;end=202411&amp;ctype=linechart&amp;ltype=pin&amp;rtype=s&amp;maptype=0&amp;rse=0&amp;pin=" TargetMode="External"/><Relationship Id="rId8" Type="http://schemas.openxmlformats.org/officeDocument/2006/relationships/hyperlink" Target="https://www.paradisesolarenergy.com/blog/how-much-do-solar-panels-cost#cost-by-panel-type" TargetMode="External"/><Relationship Id="rId10" Type="http://schemas.openxmlformats.org/officeDocument/2006/relationships/hyperlink" Target="https://tethys.pnnl.gov/sites/default/files/publications/Bang-2019-Floating-Wind-LCA.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idx="4" type="body"/>
          </p:nvPr>
        </p:nvSpPr>
        <p:spPr>
          <a:xfrm>
            <a:off x="8208751" y="196725"/>
            <a:ext cx="8124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04</a:t>
            </a:r>
            <a:r>
              <a:rPr lang="en"/>
              <a:t>.12.25</a:t>
            </a:r>
            <a:endParaRPr/>
          </a:p>
        </p:txBody>
      </p:sp>
      <p:sp>
        <p:nvSpPr>
          <p:cNvPr id="222" name="Google Shape;222;p3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50"/>
              <a:t>Optimizing Fund </a:t>
            </a:r>
            <a:r>
              <a:rPr lang="en" sz="4550"/>
              <a:t>Allocation</a:t>
            </a:r>
            <a:r>
              <a:rPr lang="en" sz="4550"/>
              <a:t> For Emissions Reduction</a:t>
            </a:r>
            <a:endParaRPr sz="4550"/>
          </a:p>
        </p:txBody>
      </p:sp>
      <p:sp>
        <p:nvSpPr>
          <p:cNvPr id="223" name="Google Shape;223;p33"/>
          <p:cNvSpPr txBox="1"/>
          <p:nvPr>
            <p:ph idx="2" type="subTitle"/>
          </p:nvPr>
        </p:nvSpPr>
        <p:spPr>
          <a:xfrm>
            <a:off x="196950" y="2171250"/>
            <a:ext cx="77421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Akash Alaparthi, Connor Breslin, William Geary, Nora Mehler, Patrick Medek, and Ryan Jiang</a:t>
            </a:r>
            <a:endParaRPr/>
          </a:p>
        </p:txBody>
      </p:sp>
      <p:sp>
        <p:nvSpPr>
          <p:cNvPr id="224" name="Google Shape;224;p3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MATH4025 - Final Presentation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Clr>
                <a:schemeClr val="hlink"/>
              </a:buClr>
              <a:buSzPts val="1100"/>
              <a:buFont typeface="Arial"/>
              <a:buNone/>
            </a:pPr>
            <a:r>
              <a:rPr lang="en" sz="1900">
                <a:solidFill>
                  <a:schemeClr val="dk1"/>
                </a:solidFill>
                <a:latin typeface="DM Sans Light"/>
                <a:ea typeface="DM Sans Light"/>
                <a:cs typeface="DM Sans Light"/>
                <a:sym typeface="DM Sans Light"/>
              </a:rPr>
              <a:t>For a given level of government expenditure, what is the optimal distribution of spending on EV subsidies and renewable energy generation for the greatest reduction in carbon emissions?</a:t>
            </a:r>
            <a:endParaRPr sz="1900">
              <a:solidFill>
                <a:schemeClr val="dk1"/>
              </a:solidFill>
              <a:latin typeface="DM Sans Light"/>
              <a:ea typeface="DM Sans Light"/>
              <a:cs typeface="DM Sans Light"/>
              <a:sym typeface="DM Sans Light"/>
            </a:endParaRPr>
          </a:p>
          <a:p>
            <a:pPr indent="0" lvl="0" marL="0" rtl="0" algn="l">
              <a:lnSpc>
                <a:spcPct val="105000"/>
              </a:lnSpc>
              <a:spcBef>
                <a:spcPts val="0"/>
              </a:spcBef>
              <a:spcAft>
                <a:spcPts val="0"/>
              </a:spcAft>
              <a:buClr>
                <a:schemeClr val="hlink"/>
              </a:buClr>
              <a:buSzPts val="1100"/>
              <a:buFont typeface="Arial"/>
              <a:buNone/>
            </a:pPr>
            <a:r>
              <a:t/>
            </a:r>
            <a:endParaRPr sz="1900">
              <a:solidFill>
                <a:schemeClr val="dk1"/>
              </a:solidFill>
              <a:latin typeface="DM Sans Light"/>
              <a:ea typeface="DM Sans Light"/>
              <a:cs typeface="DM Sans Light"/>
              <a:sym typeface="DM Sans Light"/>
            </a:endParaRPr>
          </a:p>
          <a:p>
            <a:pPr indent="0" lvl="0" marL="0" rtl="0" algn="l">
              <a:lnSpc>
                <a:spcPct val="105000"/>
              </a:lnSpc>
              <a:spcBef>
                <a:spcPts val="0"/>
              </a:spcBef>
              <a:spcAft>
                <a:spcPts val="0"/>
              </a:spcAft>
              <a:buClr>
                <a:schemeClr val="hlink"/>
              </a:buClr>
              <a:buSzPts val="1100"/>
              <a:buFont typeface="Arial"/>
              <a:buNone/>
            </a:pPr>
            <a:r>
              <a:t/>
            </a:r>
            <a:endParaRPr sz="800"/>
          </a:p>
          <a:p>
            <a:pPr indent="0" lvl="0" marL="0" rtl="0" algn="l">
              <a:lnSpc>
                <a:spcPct val="105000"/>
              </a:lnSpc>
              <a:spcBef>
                <a:spcPts val="0"/>
              </a:spcBef>
              <a:spcAft>
                <a:spcPts val="0"/>
              </a:spcAft>
              <a:buClr>
                <a:schemeClr val="hlink"/>
              </a:buClr>
              <a:buSzPts val="1100"/>
              <a:buFont typeface="Arial"/>
              <a:buNone/>
            </a:pPr>
            <a:r>
              <a:t/>
            </a:r>
            <a:endParaRPr sz="800"/>
          </a:p>
        </p:txBody>
      </p:sp>
      <p:sp>
        <p:nvSpPr>
          <p:cNvPr id="230" name="Google Shape;23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t>
            </a:r>
            <a:r>
              <a:rPr lang="en"/>
              <a:t>Question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05"/>
              <a:t>Background Information</a:t>
            </a:r>
            <a:endParaRPr sz="3005"/>
          </a:p>
        </p:txBody>
      </p:sp>
      <p:sp>
        <p:nvSpPr>
          <p:cNvPr id="236" name="Google Shape;236;p35"/>
          <p:cNvSpPr txBox="1"/>
          <p:nvPr>
            <p:ph idx="1" type="body"/>
          </p:nvPr>
        </p:nvSpPr>
        <p:spPr>
          <a:xfrm>
            <a:off x="311700" y="1152475"/>
            <a:ext cx="4797900" cy="3678900"/>
          </a:xfrm>
          <a:prstGeom prst="rect">
            <a:avLst/>
          </a:prstGeom>
        </p:spPr>
        <p:txBody>
          <a:bodyPr anchorCtr="0" anchor="t" bIns="91425" lIns="91425" spcFirstLastPara="1" rIns="91425" wrap="square" tIns="91425">
            <a:noAutofit/>
          </a:bodyPr>
          <a:lstStyle/>
          <a:p>
            <a:pPr indent="-342900" lvl="0" marL="457200" rtl="0" algn="l">
              <a:lnSpc>
                <a:spcPct val="85000"/>
              </a:lnSpc>
              <a:spcBef>
                <a:spcPts val="0"/>
              </a:spcBef>
              <a:spcAft>
                <a:spcPts val="0"/>
              </a:spcAft>
              <a:buClr>
                <a:schemeClr val="dk1"/>
              </a:buClr>
              <a:buSzPts val="1800"/>
              <a:buFont typeface="DM Sans Light"/>
              <a:buChar char="●"/>
            </a:pPr>
            <a:r>
              <a:rPr lang="en" sz="1800">
                <a:solidFill>
                  <a:schemeClr val="dk1"/>
                </a:solidFill>
                <a:latin typeface="DM Sans Light"/>
                <a:ea typeface="DM Sans Light"/>
                <a:cs typeface="DM Sans Light"/>
                <a:sym typeface="DM Sans Light"/>
              </a:rPr>
              <a:t>The U.S. released 6,343 metric tons of greenhouse gasses into the atmosphere in 2022; 79.7% of that was </a:t>
            </a:r>
            <a:r>
              <a:rPr lang="en" sz="1800">
                <a:solidFill>
                  <a:schemeClr val="dk1"/>
                </a:solidFill>
                <a:latin typeface="DM Sans Light"/>
                <a:ea typeface="DM Sans Light"/>
                <a:cs typeface="DM Sans Light"/>
                <a:sym typeface="DM Sans Light"/>
              </a:rPr>
              <a:t>CO</a:t>
            </a:r>
            <a:r>
              <a:rPr baseline="-25000" lang="en" sz="1800">
                <a:solidFill>
                  <a:schemeClr val="dk1"/>
                </a:solidFill>
                <a:latin typeface="DM Sans Light"/>
                <a:ea typeface="DM Sans Light"/>
                <a:cs typeface="DM Sans Light"/>
                <a:sym typeface="DM Sans Light"/>
              </a:rPr>
              <a:t>2</a:t>
            </a:r>
            <a:endParaRPr sz="1800">
              <a:solidFill>
                <a:schemeClr val="dk1"/>
              </a:solidFill>
              <a:latin typeface="DM Sans Light"/>
              <a:ea typeface="DM Sans Light"/>
              <a:cs typeface="DM Sans Light"/>
              <a:sym typeface="DM Sans Light"/>
            </a:endParaRPr>
          </a:p>
          <a:p>
            <a:pPr indent="-342900" lvl="0" marL="457200" rtl="0" algn="l">
              <a:lnSpc>
                <a:spcPct val="85000"/>
              </a:lnSpc>
              <a:spcBef>
                <a:spcPts val="1000"/>
              </a:spcBef>
              <a:spcAft>
                <a:spcPts val="0"/>
              </a:spcAft>
              <a:buClr>
                <a:schemeClr val="dk1"/>
              </a:buClr>
              <a:buSzPts val="1800"/>
              <a:buFont typeface="DM Sans Light"/>
              <a:buChar char="●"/>
            </a:pPr>
            <a:r>
              <a:rPr lang="en" sz="1800">
                <a:solidFill>
                  <a:schemeClr val="dk1"/>
                </a:solidFill>
                <a:latin typeface="DM Sans Light"/>
                <a:ea typeface="DM Sans Light"/>
                <a:cs typeface="DM Sans Light"/>
                <a:sym typeface="DM Sans Light"/>
              </a:rPr>
              <a:t>T</a:t>
            </a:r>
            <a:r>
              <a:rPr lang="en" sz="1800">
                <a:solidFill>
                  <a:schemeClr val="dk1"/>
                </a:solidFill>
                <a:latin typeface="DM Sans Light"/>
                <a:ea typeface="DM Sans Light"/>
                <a:cs typeface="DM Sans Light"/>
                <a:sym typeface="DM Sans Light"/>
              </a:rPr>
              <a:t>he transportation sector is the largest contributor to carbon emissions - responsible for 28% of direct greenhouse gas emissions in the U.S.</a:t>
            </a:r>
            <a:endParaRPr sz="1800">
              <a:solidFill>
                <a:schemeClr val="dk1"/>
              </a:solidFill>
              <a:latin typeface="DM Sans Light"/>
              <a:ea typeface="DM Sans Light"/>
              <a:cs typeface="DM Sans Light"/>
              <a:sym typeface="DM Sans Light"/>
            </a:endParaRPr>
          </a:p>
          <a:p>
            <a:pPr indent="-342900" lvl="0" marL="457200" rtl="0" algn="l">
              <a:lnSpc>
                <a:spcPct val="85000"/>
              </a:lnSpc>
              <a:spcBef>
                <a:spcPts val="1000"/>
              </a:spcBef>
              <a:spcAft>
                <a:spcPts val="1000"/>
              </a:spcAft>
              <a:buClr>
                <a:schemeClr val="dk1"/>
              </a:buClr>
              <a:buSzPts val="1800"/>
              <a:buFont typeface="DM Sans Light"/>
              <a:buChar char="●"/>
            </a:pPr>
            <a:r>
              <a:rPr lang="en" sz="1800">
                <a:solidFill>
                  <a:schemeClr val="dk1"/>
                </a:solidFill>
                <a:latin typeface="DM Sans Light"/>
                <a:ea typeface="DM Sans Light"/>
                <a:cs typeface="DM Sans Light"/>
                <a:sym typeface="DM Sans Light"/>
              </a:rPr>
              <a:t>We modeled the negative correlation between EV sales and vehicular particulate matter emissions, as well as the relationship between the composition of the U.S. power grid and CO</a:t>
            </a:r>
            <a:r>
              <a:rPr baseline="-25000" lang="en" sz="1800">
                <a:solidFill>
                  <a:schemeClr val="dk1"/>
                </a:solidFill>
                <a:latin typeface="DM Sans Light"/>
                <a:ea typeface="DM Sans Light"/>
                <a:cs typeface="DM Sans Light"/>
                <a:sym typeface="DM Sans Light"/>
              </a:rPr>
              <a:t>2</a:t>
            </a:r>
            <a:r>
              <a:rPr lang="en" sz="1800">
                <a:solidFill>
                  <a:schemeClr val="dk1"/>
                </a:solidFill>
                <a:latin typeface="DM Sans Light"/>
                <a:ea typeface="DM Sans Light"/>
                <a:cs typeface="DM Sans Light"/>
                <a:sym typeface="DM Sans Light"/>
              </a:rPr>
              <a:t> emissions</a:t>
            </a:r>
            <a:endParaRPr sz="1800">
              <a:solidFill>
                <a:schemeClr val="dk1"/>
              </a:solidFill>
              <a:latin typeface="DM Sans Light"/>
              <a:ea typeface="DM Sans Light"/>
              <a:cs typeface="DM Sans Light"/>
              <a:sym typeface="DM Sans Light"/>
            </a:endParaRPr>
          </a:p>
        </p:txBody>
      </p:sp>
      <p:pic>
        <p:nvPicPr>
          <p:cNvPr id="237" name="Google Shape;237;p35"/>
          <p:cNvPicPr preferRelativeResize="0"/>
          <p:nvPr/>
        </p:nvPicPr>
        <p:blipFill>
          <a:blip r:embed="rId3">
            <a:alphaModFix/>
          </a:blip>
          <a:stretch>
            <a:fillRect/>
          </a:stretch>
        </p:blipFill>
        <p:spPr>
          <a:xfrm>
            <a:off x="5109563" y="2872175"/>
            <a:ext cx="3955925" cy="1959175"/>
          </a:xfrm>
          <a:prstGeom prst="rect">
            <a:avLst/>
          </a:prstGeom>
          <a:noFill/>
          <a:ln>
            <a:noFill/>
          </a:ln>
        </p:spPr>
      </p:pic>
      <p:pic>
        <p:nvPicPr>
          <p:cNvPr id="238" name="Google Shape;238;p35"/>
          <p:cNvPicPr preferRelativeResize="0"/>
          <p:nvPr/>
        </p:nvPicPr>
        <p:blipFill>
          <a:blip r:embed="rId4">
            <a:alphaModFix/>
          </a:blip>
          <a:stretch>
            <a:fillRect/>
          </a:stretch>
        </p:blipFill>
        <p:spPr>
          <a:xfrm>
            <a:off x="5365675" y="591700"/>
            <a:ext cx="3631151" cy="2116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a:t>
            </a:r>
            <a:endParaRPr/>
          </a:p>
        </p:txBody>
      </p:sp>
      <p:sp>
        <p:nvSpPr>
          <p:cNvPr id="244" name="Google Shape;244;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DM Sans Light"/>
              <a:buChar char="●"/>
            </a:pPr>
            <a:r>
              <a:rPr lang="en" sz="1800">
                <a:solidFill>
                  <a:schemeClr val="dk1"/>
                </a:solidFill>
                <a:latin typeface="DM Sans Light"/>
                <a:ea typeface="DM Sans Light"/>
                <a:cs typeface="DM Sans Light"/>
                <a:sym typeface="DM Sans Light"/>
              </a:rPr>
              <a:t>Relied heavily on data from organizations such as the U.S. Department of Energy (DOE), U.S. Energy Information Administration (EIA), International Energy Agency (IEA), Environmental Protection Agency (EPA), and National Renewable Energy Laboratory (NREL)</a:t>
            </a:r>
            <a:endParaRPr sz="1800">
              <a:solidFill>
                <a:schemeClr val="dk1"/>
              </a:solidFill>
              <a:latin typeface="DM Sans Light"/>
              <a:ea typeface="DM Sans Light"/>
              <a:cs typeface="DM Sans Light"/>
              <a:sym typeface="DM Sans Light"/>
            </a:endParaRPr>
          </a:p>
          <a:p>
            <a:pPr indent="-342900" lvl="0" marL="457200" rtl="0" algn="l">
              <a:spcBef>
                <a:spcPts val="1000"/>
              </a:spcBef>
              <a:spcAft>
                <a:spcPts val="0"/>
              </a:spcAft>
              <a:buClr>
                <a:schemeClr val="dk1"/>
              </a:buClr>
              <a:buSzPts val="1800"/>
              <a:buFont typeface="DM Sans Light"/>
              <a:buChar char="●"/>
            </a:pPr>
            <a:r>
              <a:rPr lang="en" sz="1800">
                <a:solidFill>
                  <a:schemeClr val="dk1"/>
                </a:solidFill>
                <a:latin typeface="DM Sans Light"/>
                <a:ea typeface="DM Sans Light"/>
                <a:cs typeface="DM Sans Light"/>
                <a:sym typeface="DM Sans Light"/>
              </a:rPr>
              <a:t>Used Statista for emissions data, capacity factors, and vehicle sales</a:t>
            </a:r>
            <a:endParaRPr sz="1800">
              <a:solidFill>
                <a:schemeClr val="dk1"/>
              </a:solidFill>
              <a:latin typeface="DM Sans Light"/>
              <a:ea typeface="DM Sans Light"/>
              <a:cs typeface="DM Sans Light"/>
              <a:sym typeface="DM Sans Light"/>
            </a:endParaRPr>
          </a:p>
          <a:p>
            <a:pPr indent="-342900" lvl="0" marL="457200" rtl="0" algn="l">
              <a:spcBef>
                <a:spcPts val="1000"/>
              </a:spcBef>
              <a:spcAft>
                <a:spcPts val="1000"/>
              </a:spcAft>
              <a:buClr>
                <a:schemeClr val="dk1"/>
              </a:buClr>
              <a:buSzPts val="1800"/>
              <a:buFont typeface="DM Sans Light"/>
              <a:buChar char="●"/>
            </a:pPr>
            <a:r>
              <a:rPr lang="en" sz="1800">
                <a:solidFill>
                  <a:schemeClr val="dk1"/>
                </a:solidFill>
                <a:latin typeface="DM Sans Light"/>
                <a:ea typeface="DM Sans Light"/>
                <a:cs typeface="DM Sans Light"/>
                <a:sym typeface="DM Sans Light"/>
              </a:rPr>
              <a:t>Compiled vehicle weight and gas mileage data from manufacturers for use in our visualizations</a:t>
            </a:r>
            <a:r>
              <a:rPr lang="en" sz="1800">
                <a:latin typeface="DM Sans Light"/>
                <a:ea typeface="DM Sans Light"/>
                <a:cs typeface="DM Sans Light"/>
                <a:sym typeface="DM Sans Light"/>
              </a:rPr>
              <a:t> </a:t>
            </a:r>
            <a:endParaRPr sz="1800">
              <a:latin typeface="DM Sans Light"/>
              <a:ea typeface="DM Sans Light"/>
              <a:cs typeface="DM Sans Light"/>
              <a:sym typeface="DM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Calculation Methods</a:t>
            </a:r>
            <a:endParaRPr/>
          </a:p>
        </p:txBody>
      </p:sp>
      <p:sp>
        <p:nvSpPr>
          <p:cNvPr id="250" name="Google Shape;25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9250" lvl="0" marL="457200" rtl="0" algn="l">
              <a:spcBef>
                <a:spcPts val="0"/>
              </a:spcBef>
              <a:spcAft>
                <a:spcPts val="0"/>
              </a:spcAft>
              <a:buClr>
                <a:schemeClr val="dk1"/>
              </a:buClr>
              <a:buSzPts val="1900"/>
              <a:buFont typeface="DM Sans Light"/>
              <a:buChar char="●"/>
            </a:pPr>
            <a:r>
              <a:rPr lang="en" sz="1900">
                <a:solidFill>
                  <a:schemeClr val="dk1"/>
                </a:solidFill>
                <a:latin typeface="DM Sans Light"/>
                <a:ea typeface="DM Sans Light"/>
                <a:cs typeface="DM Sans Light"/>
                <a:sym typeface="DM Sans Light"/>
              </a:rPr>
              <a:t>Vehicle subsidies - calculated as an amortizing loan based on a series of cash flows, incorporating maintenance, insurance, and fuel costs </a:t>
            </a:r>
            <a:endParaRPr sz="1900">
              <a:solidFill>
                <a:schemeClr val="dk1"/>
              </a:solidFill>
              <a:latin typeface="DM Sans Light"/>
              <a:ea typeface="DM Sans Light"/>
              <a:cs typeface="DM Sans Light"/>
              <a:sym typeface="DM Sans Light"/>
            </a:endParaRPr>
          </a:p>
          <a:p>
            <a:pPr indent="-349250" lvl="1" marL="914400" rtl="0" algn="l">
              <a:spcBef>
                <a:spcPts val="1000"/>
              </a:spcBef>
              <a:spcAft>
                <a:spcPts val="0"/>
              </a:spcAft>
              <a:buClr>
                <a:schemeClr val="dk1"/>
              </a:buClr>
              <a:buSzPts val="1900"/>
              <a:buFont typeface="DM Sans Light"/>
              <a:buChar char="○"/>
            </a:pPr>
            <a:r>
              <a:rPr lang="en" sz="1900">
                <a:solidFill>
                  <a:schemeClr val="dk1"/>
                </a:solidFill>
                <a:latin typeface="DM Sans Light"/>
                <a:ea typeface="DM Sans Light"/>
                <a:cs typeface="DM Sans Light"/>
                <a:sym typeface="DM Sans Light"/>
              </a:rPr>
              <a:t>Our equation breaks down the cost delta of the 4 factors per month and discounts them at the appropriate cost of capital in order to find the present value difference between ICE and EV of our 3 different classifications, Sedan, SUV, Truck</a:t>
            </a:r>
            <a:endParaRPr sz="1900">
              <a:solidFill>
                <a:schemeClr val="dk1"/>
              </a:solidFill>
              <a:latin typeface="DM Sans Light"/>
              <a:ea typeface="DM Sans Light"/>
              <a:cs typeface="DM Sans Light"/>
              <a:sym typeface="DM Sans Light"/>
            </a:endParaRPr>
          </a:p>
          <a:p>
            <a:pPr indent="-349250" lvl="0" marL="457200" rtl="0" algn="l">
              <a:spcBef>
                <a:spcPts val="1000"/>
              </a:spcBef>
              <a:spcAft>
                <a:spcPts val="0"/>
              </a:spcAft>
              <a:buClr>
                <a:schemeClr val="dk1"/>
              </a:buClr>
              <a:buSzPts val="1900"/>
              <a:buFont typeface="DM Sans Light"/>
              <a:buChar char="●"/>
            </a:pPr>
            <a:r>
              <a:rPr lang="en" sz="1900">
                <a:solidFill>
                  <a:schemeClr val="dk1"/>
                </a:solidFill>
                <a:latin typeface="DM Sans Light"/>
                <a:ea typeface="DM Sans Light"/>
                <a:cs typeface="DM Sans Light"/>
                <a:sym typeface="DM Sans Light"/>
              </a:rPr>
              <a:t>Levelized Cost of Energy (LCOE)</a:t>
            </a:r>
            <a:endParaRPr sz="1900">
              <a:solidFill>
                <a:schemeClr val="dk1"/>
              </a:solidFill>
              <a:latin typeface="DM Sans Light"/>
              <a:ea typeface="DM Sans Light"/>
              <a:cs typeface="DM Sans Light"/>
              <a:sym typeface="DM Sans Light"/>
            </a:endParaRPr>
          </a:p>
          <a:p>
            <a:pPr indent="-349250" lvl="1" marL="914400" rtl="0" algn="l">
              <a:spcBef>
                <a:spcPts val="1000"/>
              </a:spcBef>
              <a:spcAft>
                <a:spcPts val="1000"/>
              </a:spcAft>
              <a:buClr>
                <a:schemeClr val="dk1"/>
              </a:buClr>
              <a:buSzPts val="1900"/>
              <a:buFont typeface="DM Sans Light"/>
              <a:buChar char="○"/>
            </a:pPr>
            <a:r>
              <a:rPr lang="en" sz="1900">
                <a:solidFill>
                  <a:schemeClr val="dk1"/>
                </a:solidFill>
                <a:latin typeface="DM Sans Light"/>
                <a:ea typeface="DM Sans Light"/>
                <a:cs typeface="DM Sans Light"/>
                <a:sym typeface="DM Sans Light"/>
              </a:rPr>
              <a:t>LCOE is the present value of the cost of generating a unit of electricity</a:t>
            </a:r>
            <a:endParaRPr sz="1900">
              <a:solidFill>
                <a:schemeClr val="dk1"/>
              </a:solidFill>
              <a:latin typeface="DM Sans Light"/>
              <a:ea typeface="DM Sans Light"/>
              <a:cs typeface="DM Sans Light"/>
              <a:sym typeface="DM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05"/>
              <a:t>Estimating Breakeven EV Subsidy</a:t>
            </a:r>
            <a:endParaRPr sz="3005"/>
          </a:p>
        </p:txBody>
      </p:sp>
      <p:sp>
        <p:nvSpPr>
          <p:cNvPr id="256" name="Google Shape;25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22104" lvl="0" marL="457200" rtl="0" algn="l">
              <a:spcBef>
                <a:spcPts val="0"/>
              </a:spcBef>
              <a:spcAft>
                <a:spcPts val="0"/>
              </a:spcAft>
              <a:buClr>
                <a:schemeClr val="dk1"/>
              </a:buClr>
              <a:buSzPct val="100000"/>
              <a:buFont typeface="DM Sans Light"/>
              <a:buChar char="●"/>
            </a:pPr>
            <a:r>
              <a:rPr lang="en" sz="1900">
                <a:solidFill>
                  <a:schemeClr val="dk1"/>
                </a:solidFill>
                <a:latin typeface="DM Sans Light"/>
                <a:ea typeface="DM Sans Light"/>
                <a:cs typeface="DM Sans Light"/>
                <a:sym typeface="DM Sans Light"/>
              </a:rPr>
              <a:t>Calculated the subsidy required for a consumer to be </a:t>
            </a:r>
            <a:r>
              <a:rPr lang="en" sz="1900">
                <a:solidFill>
                  <a:schemeClr val="dk1"/>
                </a:solidFill>
                <a:latin typeface="DM Sans Light"/>
                <a:ea typeface="DM Sans Light"/>
                <a:cs typeface="DM Sans Light"/>
                <a:sym typeface="DM Sans Light"/>
              </a:rPr>
              <a:t>indifferent</a:t>
            </a:r>
            <a:r>
              <a:rPr lang="en" sz="1900">
                <a:solidFill>
                  <a:schemeClr val="dk1"/>
                </a:solidFill>
                <a:latin typeface="DM Sans Light"/>
                <a:ea typeface="DM Sans Light"/>
                <a:cs typeface="DM Sans Light"/>
                <a:sym typeface="DM Sans Light"/>
              </a:rPr>
              <a:t> between an ICE vehicle and its EV counterpart</a:t>
            </a:r>
            <a:endParaRPr sz="1900">
              <a:solidFill>
                <a:schemeClr val="dk1"/>
              </a:solidFill>
              <a:latin typeface="DM Sans Light"/>
              <a:ea typeface="DM Sans Light"/>
              <a:cs typeface="DM Sans Light"/>
              <a:sym typeface="DM Sans Light"/>
            </a:endParaRPr>
          </a:p>
          <a:p>
            <a:pPr indent="-322104" lvl="0" marL="457200" rtl="0" algn="l">
              <a:spcBef>
                <a:spcPts val="1000"/>
              </a:spcBef>
              <a:spcAft>
                <a:spcPts val="0"/>
              </a:spcAft>
              <a:buClr>
                <a:schemeClr val="dk1"/>
              </a:buClr>
              <a:buSzPct val="100000"/>
              <a:buFont typeface="DM Sans Light"/>
              <a:buChar char="●"/>
            </a:pPr>
            <a:r>
              <a:rPr lang="en" sz="1900">
                <a:solidFill>
                  <a:schemeClr val="dk1"/>
                </a:solidFill>
                <a:latin typeface="DM Sans Light"/>
                <a:ea typeface="DM Sans Light"/>
                <a:cs typeface="DM Sans Light"/>
                <a:sym typeface="DM Sans Light"/>
              </a:rPr>
              <a:t>Principle idea is asset replication, assets with identical payoffs should have identical prices. (payoff is miles traveled)</a:t>
            </a:r>
            <a:endParaRPr sz="1900">
              <a:solidFill>
                <a:schemeClr val="dk1"/>
              </a:solidFill>
              <a:latin typeface="DM Sans Light"/>
              <a:ea typeface="DM Sans Light"/>
              <a:cs typeface="DM Sans Light"/>
              <a:sym typeface="DM Sans Light"/>
            </a:endParaRPr>
          </a:p>
          <a:p>
            <a:pPr indent="-322104" lvl="0" marL="457200" rtl="0" algn="l">
              <a:spcBef>
                <a:spcPts val="1000"/>
              </a:spcBef>
              <a:spcAft>
                <a:spcPts val="0"/>
              </a:spcAft>
              <a:buClr>
                <a:schemeClr val="dk1"/>
              </a:buClr>
              <a:buSzPct val="100000"/>
              <a:buFont typeface="DM Sans Light"/>
              <a:buChar char="●"/>
            </a:pPr>
            <a:r>
              <a:rPr lang="en" sz="1900">
                <a:solidFill>
                  <a:schemeClr val="dk1"/>
                </a:solidFill>
                <a:latin typeface="DM Sans Light"/>
                <a:ea typeface="DM Sans Light"/>
                <a:cs typeface="DM Sans Light"/>
                <a:sym typeface="DM Sans Light"/>
              </a:rPr>
              <a:t>Considered cost of </a:t>
            </a:r>
            <a:r>
              <a:rPr lang="en" sz="1900">
                <a:solidFill>
                  <a:schemeClr val="dk1"/>
                </a:solidFill>
                <a:latin typeface="DM Sans Light"/>
                <a:ea typeface="DM Sans Light"/>
                <a:cs typeface="DM Sans Light"/>
                <a:sym typeface="DM Sans Light"/>
              </a:rPr>
              <a:t>fuel (ICE) and charging (EV), financing, maintenance, and insurance</a:t>
            </a:r>
            <a:endParaRPr sz="1900">
              <a:solidFill>
                <a:schemeClr val="dk1"/>
              </a:solidFill>
              <a:latin typeface="DM Sans Light"/>
              <a:ea typeface="DM Sans Light"/>
              <a:cs typeface="DM Sans Light"/>
              <a:sym typeface="DM Sans Light"/>
            </a:endParaRPr>
          </a:p>
          <a:p>
            <a:pPr indent="-322104" lvl="0" marL="457200" rtl="0" algn="l">
              <a:spcBef>
                <a:spcPts val="1000"/>
              </a:spcBef>
              <a:spcAft>
                <a:spcPts val="0"/>
              </a:spcAft>
              <a:buClr>
                <a:schemeClr val="dk1"/>
              </a:buClr>
              <a:buSzPct val="100000"/>
              <a:buFont typeface="DM Sans Light"/>
              <a:buChar char="●"/>
            </a:pPr>
            <a:r>
              <a:rPr lang="en" sz="1900">
                <a:solidFill>
                  <a:schemeClr val="dk1"/>
                </a:solidFill>
                <a:latin typeface="DM Sans Light"/>
                <a:ea typeface="DM Sans Light"/>
                <a:cs typeface="DM Sans Light"/>
                <a:sym typeface="DM Sans Light"/>
              </a:rPr>
              <a:t>Calculated as the present value of a series of monthly cash flows discounted back at the risk-free rate</a:t>
            </a:r>
            <a:endParaRPr sz="1900">
              <a:solidFill>
                <a:schemeClr val="dk1"/>
              </a:solidFill>
              <a:latin typeface="DM Sans Light"/>
              <a:ea typeface="DM Sans Light"/>
              <a:cs typeface="DM Sans Light"/>
              <a:sym typeface="DM Sans Light"/>
            </a:endParaRPr>
          </a:p>
          <a:p>
            <a:pPr indent="-322104" lvl="0" marL="457200" rtl="0" algn="l">
              <a:spcBef>
                <a:spcPts val="1000"/>
              </a:spcBef>
              <a:spcAft>
                <a:spcPts val="0"/>
              </a:spcAft>
              <a:buClr>
                <a:schemeClr val="dk1"/>
              </a:buClr>
              <a:buSzPct val="100000"/>
              <a:buChar char="●"/>
            </a:pPr>
            <a:r>
              <a:rPr b="1" lang="en" sz="1900">
                <a:solidFill>
                  <a:schemeClr val="dk1"/>
                </a:solidFill>
              </a:rPr>
              <a:t>Sedan: $11,045.17</a:t>
            </a:r>
            <a:endParaRPr b="1" sz="1900">
              <a:solidFill>
                <a:schemeClr val="dk1"/>
              </a:solidFill>
            </a:endParaRPr>
          </a:p>
          <a:p>
            <a:pPr indent="-322104" lvl="0" marL="457200" rtl="0" algn="l">
              <a:spcBef>
                <a:spcPts val="1000"/>
              </a:spcBef>
              <a:spcAft>
                <a:spcPts val="0"/>
              </a:spcAft>
              <a:buClr>
                <a:schemeClr val="dk1"/>
              </a:buClr>
              <a:buSzPct val="100000"/>
              <a:buChar char="●"/>
            </a:pPr>
            <a:r>
              <a:rPr b="1" lang="en" sz="1900">
                <a:solidFill>
                  <a:schemeClr val="dk1"/>
                </a:solidFill>
              </a:rPr>
              <a:t>SUV: $20,759.66</a:t>
            </a:r>
            <a:endParaRPr b="1" sz="1900">
              <a:solidFill>
                <a:schemeClr val="dk1"/>
              </a:solidFill>
            </a:endParaRPr>
          </a:p>
          <a:p>
            <a:pPr indent="-322104" lvl="0" marL="457200" rtl="0" algn="l">
              <a:spcBef>
                <a:spcPts val="1000"/>
              </a:spcBef>
              <a:spcAft>
                <a:spcPts val="1000"/>
              </a:spcAft>
              <a:buClr>
                <a:schemeClr val="dk1"/>
              </a:buClr>
              <a:buSzPct val="100000"/>
              <a:buChar char="●"/>
            </a:pPr>
            <a:r>
              <a:rPr b="1" lang="en" sz="1900">
                <a:solidFill>
                  <a:schemeClr val="dk1"/>
                </a:solidFill>
              </a:rPr>
              <a:t>Truck: $15,174.49</a:t>
            </a:r>
            <a:endParaRPr b="1" sz="19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05"/>
              <a:t>Estimating Cost of Energy Generation</a:t>
            </a:r>
            <a:endParaRPr sz="3005"/>
          </a:p>
        </p:txBody>
      </p:sp>
      <p:sp>
        <p:nvSpPr>
          <p:cNvPr id="262" name="Google Shape;262;p39"/>
          <p:cNvSpPr txBox="1"/>
          <p:nvPr/>
        </p:nvSpPr>
        <p:spPr>
          <a:xfrm>
            <a:off x="311700" y="1278750"/>
            <a:ext cx="3489600" cy="29862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Poppins"/>
              <a:buChar char="●"/>
            </a:pPr>
            <a:r>
              <a:rPr b="1" i="1" lang="en">
                <a:solidFill>
                  <a:schemeClr val="dk1"/>
                </a:solidFill>
                <a:latin typeface="DM Sans"/>
                <a:ea typeface="DM Sans"/>
                <a:cs typeface="DM Sans"/>
                <a:sym typeface="DM Sans"/>
              </a:rPr>
              <a:t>n</a:t>
            </a:r>
            <a:r>
              <a:rPr lang="en">
                <a:solidFill>
                  <a:schemeClr val="dk1"/>
                </a:solidFill>
                <a:latin typeface="DM Sans Light"/>
                <a:ea typeface="DM Sans Light"/>
                <a:cs typeface="DM Sans Light"/>
                <a:sym typeface="DM Sans Light"/>
              </a:rPr>
              <a:t> : Lifespan of the energy system (in years)</a:t>
            </a:r>
            <a:endParaRPr>
              <a:solidFill>
                <a:schemeClr val="dk1"/>
              </a:solidFill>
              <a:latin typeface="DM Sans Light"/>
              <a:ea typeface="DM Sans Light"/>
              <a:cs typeface="DM Sans Light"/>
              <a:sym typeface="DM Sans Light"/>
            </a:endParaRPr>
          </a:p>
          <a:p>
            <a:pPr indent="-317500" lvl="0" marL="457200" rtl="0" algn="l">
              <a:lnSpc>
                <a:spcPct val="150000"/>
              </a:lnSpc>
              <a:spcBef>
                <a:spcPts val="0"/>
              </a:spcBef>
              <a:spcAft>
                <a:spcPts val="0"/>
              </a:spcAft>
              <a:buClr>
                <a:schemeClr val="dk1"/>
              </a:buClr>
              <a:buSzPts val="1400"/>
              <a:buFont typeface="Poppins"/>
              <a:buChar char="●"/>
            </a:pPr>
            <a:r>
              <a:rPr b="1" i="1" lang="en">
                <a:solidFill>
                  <a:schemeClr val="dk1"/>
                </a:solidFill>
                <a:latin typeface="DM Sans"/>
                <a:ea typeface="DM Sans"/>
                <a:cs typeface="DM Sans"/>
                <a:sym typeface="DM Sans"/>
              </a:rPr>
              <a:t>I</a:t>
            </a:r>
            <a:r>
              <a:rPr b="1" baseline="-25000" i="1" lang="en">
                <a:solidFill>
                  <a:schemeClr val="dk1"/>
                </a:solidFill>
                <a:latin typeface="DM Sans"/>
                <a:ea typeface="DM Sans"/>
                <a:cs typeface="DM Sans"/>
                <a:sym typeface="DM Sans"/>
              </a:rPr>
              <a:t>t</a:t>
            </a:r>
            <a:r>
              <a:rPr b="1" lang="en">
                <a:solidFill>
                  <a:schemeClr val="dk1"/>
                </a:solidFill>
                <a:latin typeface="DM Sans"/>
                <a:ea typeface="DM Sans"/>
                <a:cs typeface="DM Sans"/>
                <a:sym typeface="DM Sans"/>
              </a:rPr>
              <a:t> </a:t>
            </a:r>
            <a:r>
              <a:rPr lang="en">
                <a:solidFill>
                  <a:schemeClr val="dk1"/>
                </a:solidFill>
                <a:latin typeface="DM Sans Light"/>
                <a:ea typeface="DM Sans Light"/>
                <a:cs typeface="DM Sans Light"/>
                <a:sym typeface="DM Sans Light"/>
              </a:rPr>
              <a:t>: Investment expenditure in year t</a:t>
            </a:r>
            <a:endParaRPr>
              <a:solidFill>
                <a:schemeClr val="dk1"/>
              </a:solidFill>
              <a:latin typeface="DM Sans Light"/>
              <a:ea typeface="DM Sans Light"/>
              <a:cs typeface="DM Sans Light"/>
              <a:sym typeface="DM Sans Light"/>
            </a:endParaRPr>
          </a:p>
          <a:p>
            <a:pPr indent="-317500" lvl="0" marL="457200" rtl="0" algn="l">
              <a:lnSpc>
                <a:spcPct val="150000"/>
              </a:lnSpc>
              <a:spcBef>
                <a:spcPts val="0"/>
              </a:spcBef>
              <a:spcAft>
                <a:spcPts val="0"/>
              </a:spcAft>
              <a:buClr>
                <a:schemeClr val="dk1"/>
              </a:buClr>
              <a:buSzPts val="1400"/>
              <a:buFont typeface="Poppins"/>
              <a:buChar char="●"/>
            </a:pPr>
            <a:r>
              <a:rPr b="1" i="1" lang="en">
                <a:solidFill>
                  <a:schemeClr val="dk1"/>
                </a:solidFill>
                <a:latin typeface="DM Sans"/>
                <a:ea typeface="DM Sans"/>
                <a:cs typeface="DM Sans"/>
                <a:sym typeface="DM Sans"/>
              </a:rPr>
              <a:t>M</a:t>
            </a:r>
            <a:r>
              <a:rPr b="1" baseline="-25000" i="1" lang="en">
                <a:solidFill>
                  <a:schemeClr val="dk1"/>
                </a:solidFill>
                <a:latin typeface="DM Sans"/>
                <a:ea typeface="DM Sans"/>
                <a:cs typeface="DM Sans"/>
                <a:sym typeface="DM Sans"/>
              </a:rPr>
              <a:t>t</a:t>
            </a:r>
            <a:r>
              <a:rPr b="1" i="1" lang="en">
                <a:solidFill>
                  <a:schemeClr val="dk1"/>
                </a:solidFill>
                <a:latin typeface="DM Sans"/>
                <a:ea typeface="DM Sans"/>
                <a:cs typeface="DM Sans"/>
                <a:sym typeface="DM Sans"/>
              </a:rPr>
              <a:t> </a:t>
            </a:r>
            <a:r>
              <a:rPr lang="en">
                <a:solidFill>
                  <a:schemeClr val="dk1"/>
                </a:solidFill>
                <a:latin typeface="DM Sans Light"/>
                <a:ea typeface="DM Sans Light"/>
                <a:cs typeface="DM Sans Light"/>
                <a:sym typeface="DM Sans Light"/>
              </a:rPr>
              <a:t>: Operation and maintenance expenditure in year t</a:t>
            </a:r>
            <a:endParaRPr>
              <a:solidFill>
                <a:schemeClr val="dk1"/>
              </a:solidFill>
              <a:latin typeface="DM Sans Light"/>
              <a:ea typeface="DM Sans Light"/>
              <a:cs typeface="DM Sans Light"/>
              <a:sym typeface="DM Sans Light"/>
            </a:endParaRPr>
          </a:p>
          <a:p>
            <a:pPr indent="-317500" lvl="0" marL="457200" rtl="0" algn="l">
              <a:lnSpc>
                <a:spcPct val="150000"/>
              </a:lnSpc>
              <a:spcBef>
                <a:spcPts val="0"/>
              </a:spcBef>
              <a:spcAft>
                <a:spcPts val="0"/>
              </a:spcAft>
              <a:buClr>
                <a:schemeClr val="dk1"/>
              </a:buClr>
              <a:buSzPts val="1400"/>
              <a:buFont typeface="Poppins"/>
              <a:buChar char="●"/>
            </a:pPr>
            <a:r>
              <a:rPr b="1" i="1" lang="en">
                <a:solidFill>
                  <a:schemeClr val="dk1"/>
                </a:solidFill>
                <a:latin typeface="DM Sans"/>
                <a:ea typeface="DM Sans"/>
                <a:cs typeface="DM Sans"/>
                <a:sym typeface="DM Sans"/>
              </a:rPr>
              <a:t>F</a:t>
            </a:r>
            <a:r>
              <a:rPr b="1" baseline="-25000" i="1" lang="en">
                <a:solidFill>
                  <a:schemeClr val="dk1"/>
                </a:solidFill>
                <a:latin typeface="DM Sans"/>
                <a:ea typeface="DM Sans"/>
                <a:cs typeface="DM Sans"/>
                <a:sym typeface="DM Sans"/>
              </a:rPr>
              <a:t>t</a:t>
            </a:r>
            <a:r>
              <a:rPr lang="en">
                <a:solidFill>
                  <a:schemeClr val="dk1"/>
                </a:solidFill>
                <a:latin typeface="DM Sans Light"/>
                <a:ea typeface="DM Sans Light"/>
                <a:cs typeface="DM Sans Light"/>
                <a:sym typeface="DM Sans Light"/>
              </a:rPr>
              <a:t> : Fuel expenditure in year t *</a:t>
            </a:r>
            <a:endParaRPr>
              <a:solidFill>
                <a:schemeClr val="dk1"/>
              </a:solidFill>
              <a:latin typeface="DM Sans Light"/>
              <a:ea typeface="DM Sans Light"/>
              <a:cs typeface="DM Sans Light"/>
              <a:sym typeface="DM Sans Light"/>
            </a:endParaRPr>
          </a:p>
          <a:p>
            <a:pPr indent="-317500" lvl="0" marL="457200" rtl="0" algn="l">
              <a:lnSpc>
                <a:spcPct val="150000"/>
              </a:lnSpc>
              <a:spcBef>
                <a:spcPts val="0"/>
              </a:spcBef>
              <a:spcAft>
                <a:spcPts val="0"/>
              </a:spcAft>
              <a:buClr>
                <a:schemeClr val="dk1"/>
              </a:buClr>
              <a:buSzPts val="1400"/>
              <a:buFont typeface="Poppins"/>
              <a:buChar char="●"/>
            </a:pPr>
            <a:r>
              <a:rPr b="1" i="1" lang="en">
                <a:solidFill>
                  <a:schemeClr val="dk1"/>
                </a:solidFill>
                <a:latin typeface="DM Sans"/>
                <a:ea typeface="DM Sans"/>
                <a:cs typeface="DM Sans"/>
                <a:sym typeface="DM Sans"/>
              </a:rPr>
              <a:t>E</a:t>
            </a:r>
            <a:r>
              <a:rPr b="1" baseline="-25000" i="1" lang="en">
                <a:solidFill>
                  <a:schemeClr val="dk1"/>
                </a:solidFill>
                <a:latin typeface="DM Sans"/>
                <a:ea typeface="DM Sans"/>
                <a:cs typeface="DM Sans"/>
                <a:sym typeface="DM Sans"/>
              </a:rPr>
              <a:t>t</a:t>
            </a:r>
            <a:r>
              <a:rPr b="1" lang="en">
                <a:solidFill>
                  <a:schemeClr val="dk1"/>
                </a:solidFill>
                <a:latin typeface="DM Sans"/>
                <a:ea typeface="DM Sans"/>
                <a:cs typeface="DM Sans"/>
                <a:sym typeface="DM Sans"/>
              </a:rPr>
              <a:t> </a:t>
            </a:r>
            <a:r>
              <a:rPr lang="en">
                <a:solidFill>
                  <a:schemeClr val="dk1"/>
                </a:solidFill>
                <a:latin typeface="DM Sans Light"/>
                <a:ea typeface="DM Sans Light"/>
                <a:cs typeface="DM Sans Light"/>
                <a:sym typeface="DM Sans Light"/>
              </a:rPr>
              <a:t>: Electricity generation in year t</a:t>
            </a:r>
            <a:endParaRPr>
              <a:solidFill>
                <a:schemeClr val="dk1"/>
              </a:solidFill>
              <a:latin typeface="DM Sans Light"/>
              <a:ea typeface="DM Sans Light"/>
              <a:cs typeface="DM Sans Light"/>
              <a:sym typeface="DM Sans Light"/>
            </a:endParaRPr>
          </a:p>
          <a:p>
            <a:pPr indent="-317500" lvl="0" marL="457200" rtl="0" algn="l">
              <a:lnSpc>
                <a:spcPct val="150000"/>
              </a:lnSpc>
              <a:spcBef>
                <a:spcPts val="0"/>
              </a:spcBef>
              <a:spcAft>
                <a:spcPts val="0"/>
              </a:spcAft>
              <a:buClr>
                <a:schemeClr val="dk1"/>
              </a:buClr>
              <a:buSzPts val="1400"/>
              <a:buFont typeface="Poppins"/>
              <a:buChar char="●"/>
            </a:pPr>
            <a:r>
              <a:rPr b="1" i="1" lang="en">
                <a:solidFill>
                  <a:schemeClr val="dk1"/>
                </a:solidFill>
                <a:latin typeface="DM Sans"/>
                <a:ea typeface="DM Sans"/>
                <a:cs typeface="DM Sans"/>
                <a:sym typeface="DM Sans"/>
              </a:rPr>
              <a:t>r</a:t>
            </a:r>
            <a:r>
              <a:rPr lang="en">
                <a:solidFill>
                  <a:schemeClr val="dk1"/>
                </a:solidFill>
                <a:latin typeface="DM Sans Light"/>
                <a:ea typeface="DM Sans Light"/>
                <a:cs typeface="DM Sans Light"/>
                <a:sym typeface="DM Sans Light"/>
              </a:rPr>
              <a:t> : Discount rate</a:t>
            </a:r>
            <a:endParaRPr>
              <a:solidFill>
                <a:schemeClr val="dk1"/>
              </a:solidFill>
              <a:latin typeface="DM Sans Light"/>
              <a:ea typeface="DM Sans Light"/>
              <a:cs typeface="DM Sans Light"/>
              <a:sym typeface="DM Sans Light"/>
            </a:endParaRPr>
          </a:p>
          <a:p>
            <a:pPr indent="0" lvl="0" marL="0" rtl="0" algn="r">
              <a:lnSpc>
                <a:spcPct val="150000"/>
              </a:lnSpc>
              <a:spcBef>
                <a:spcPts val="0"/>
              </a:spcBef>
              <a:spcAft>
                <a:spcPts val="0"/>
              </a:spcAft>
              <a:buNone/>
            </a:pPr>
            <a:r>
              <a:rPr i="1" lang="en">
                <a:solidFill>
                  <a:schemeClr val="dk1"/>
                </a:solidFill>
                <a:latin typeface="DM Sans Light"/>
                <a:ea typeface="DM Sans Light"/>
                <a:cs typeface="DM Sans Light"/>
                <a:sym typeface="DM Sans Light"/>
              </a:rPr>
              <a:t>*F</a:t>
            </a:r>
            <a:r>
              <a:rPr baseline="-25000" i="1" lang="en">
                <a:solidFill>
                  <a:schemeClr val="dk1"/>
                </a:solidFill>
                <a:latin typeface="DM Sans Light"/>
                <a:ea typeface="DM Sans Light"/>
                <a:cs typeface="DM Sans Light"/>
                <a:sym typeface="DM Sans Light"/>
              </a:rPr>
              <a:t>t</a:t>
            </a:r>
            <a:r>
              <a:rPr lang="en">
                <a:solidFill>
                  <a:schemeClr val="dk1"/>
                </a:solidFill>
                <a:latin typeface="DM Sans Light"/>
                <a:ea typeface="DM Sans Light"/>
                <a:cs typeface="DM Sans Light"/>
                <a:sym typeface="DM Sans Light"/>
              </a:rPr>
              <a:t> = 0 for wind and solar</a:t>
            </a:r>
            <a:endParaRPr>
              <a:solidFill>
                <a:schemeClr val="dk1"/>
              </a:solidFill>
              <a:latin typeface="DM Sans Light"/>
              <a:ea typeface="DM Sans Light"/>
              <a:cs typeface="DM Sans Light"/>
              <a:sym typeface="DM Sans Light"/>
            </a:endParaRPr>
          </a:p>
        </p:txBody>
      </p:sp>
      <p:grpSp>
        <p:nvGrpSpPr>
          <p:cNvPr id="263" name="Google Shape;263;p39"/>
          <p:cNvGrpSpPr/>
          <p:nvPr/>
        </p:nvGrpSpPr>
        <p:grpSpPr>
          <a:xfrm>
            <a:off x="3801200" y="1417890"/>
            <a:ext cx="5145435" cy="3031012"/>
            <a:chOff x="3570625" y="1231596"/>
            <a:chExt cx="5523223" cy="3186179"/>
          </a:xfrm>
        </p:grpSpPr>
        <p:pic>
          <p:nvPicPr>
            <p:cNvPr id="264" name="Google Shape;264;p39"/>
            <p:cNvPicPr preferRelativeResize="0"/>
            <p:nvPr/>
          </p:nvPicPr>
          <p:blipFill>
            <a:blip r:embed="rId3">
              <a:alphaModFix/>
            </a:blip>
            <a:stretch>
              <a:fillRect/>
            </a:stretch>
          </p:blipFill>
          <p:spPr>
            <a:xfrm>
              <a:off x="4145475" y="2223275"/>
              <a:ext cx="4373524" cy="2194499"/>
            </a:xfrm>
            <a:prstGeom prst="rect">
              <a:avLst/>
            </a:prstGeom>
            <a:noFill/>
            <a:ln>
              <a:noFill/>
            </a:ln>
          </p:spPr>
        </p:pic>
        <p:pic>
          <p:nvPicPr>
            <p:cNvPr id="265" name="Google Shape;265;p39"/>
            <p:cNvPicPr preferRelativeResize="0"/>
            <p:nvPr/>
          </p:nvPicPr>
          <p:blipFill>
            <a:blip r:embed="rId4">
              <a:alphaModFix/>
            </a:blip>
            <a:stretch>
              <a:fillRect/>
            </a:stretch>
          </p:blipFill>
          <p:spPr>
            <a:xfrm>
              <a:off x="3570625" y="1231596"/>
              <a:ext cx="5523223" cy="815855"/>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05"/>
              <a:t>Estimating Cost of Energy Generation</a:t>
            </a:r>
            <a:endParaRPr sz="3005"/>
          </a:p>
        </p:txBody>
      </p:sp>
      <p:sp>
        <p:nvSpPr>
          <p:cNvPr id="271" name="Google Shape;271;p40"/>
          <p:cNvSpPr txBox="1"/>
          <p:nvPr>
            <p:ph idx="1" type="body"/>
          </p:nvPr>
        </p:nvSpPr>
        <p:spPr>
          <a:xfrm>
            <a:off x="311700" y="1152475"/>
            <a:ext cx="4774200" cy="3416400"/>
          </a:xfrm>
          <a:prstGeom prst="rect">
            <a:avLst/>
          </a:prstGeom>
        </p:spPr>
        <p:txBody>
          <a:bodyPr anchorCtr="0" anchor="t" bIns="91425" lIns="91425" spcFirstLastPara="1" rIns="91425" wrap="square" tIns="91425">
            <a:normAutofit fontScale="85000" lnSpcReduction="20000"/>
          </a:bodyPr>
          <a:lstStyle/>
          <a:p>
            <a:pPr indent="-331153" lvl="0" marL="457200" rtl="0" algn="l">
              <a:spcBef>
                <a:spcPts val="0"/>
              </a:spcBef>
              <a:spcAft>
                <a:spcPts val="0"/>
              </a:spcAft>
              <a:buClr>
                <a:schemeClr val="dk1"/>
              </a:buClr>
              <a:buSzPct val="100000"/>
              <a:buFont typeface="DM Sans Light"/>
              <a:buChar char="●"/>
            </a:pPr>
            <a:r>
              <a:rPr lang="en" sz="1900">
                <a:solidFill>
                  <a:schemeClr val="dk1"/>
                </a:solidFill>
                <a:latin typeface="DM Sans Light"/>
                <a:ea typeface="DM Sans Light"/>
                <a:cs typeface="DM Sans Light"/>
                <a:sym typeface="DM Sans Light"/>
              </a:rPr>
              <a:t>The Levelized Cost of Energy (LCOE) considers a power plant’s initial construction cost, as well as the lifetime maintenance, operation, and fuel cost</a:t>
            </a:r>
            <a:endParaRPr sz="1900">
              <a:solidFill>
                <a:schemeClr val="dk1"/>
              </a:solidFill>
              <a:latin typeface="DM Sans Light"/>
              <a:ea typeface="DM Sans Light"/>
              <a:cs typeface="DM Sans Light"/>
              <a:sym typeface="DM Sans Light"/>
            </a:endParaRPr>
          </a:p>
          <a:p>
            <a:pPr indent="-331153" lvl="0" marL="457200" rtl="0" algn="l">
              <a:spcBef>
                <a:spcPts val="1000"/>
              </a:spcBef>
              <a:spcAft>
                <a:spcPts val="0"/>
              </a:spcAft>
              <a:buClr>
                <a:schemeClr val="dk1"/>
              </a:buClr>
              <a:buSzPct val="100000"/>
              <a:buFont typeface="DM Sans Light"/>
              <a:buChar char="●"/>
            </a:pPr>
            <a:r>
              <a:rPr lang="en" sz="1900">
                <a:solidFill>
                  <a:schemeClr val="dk1"/>
                </a:solidFill>
                <a:latin typeface="DM Sans Light"/>
                <a:ea typeface="DM Sans Light"/>
                <a:cs typeface="DM Sans Light"/>
                <a:sym typeface="DM Sans Light"/>
              </a:rPr>
              <a:t>Calculated the present value of the LCOE for natural gas, land-based wind, and solar from the given equation, multiplied by the capacity factor for each energy source </a:t>
            </a:r>
            <a:endParaRPr sz="1900">
              <a:solidFill>
                <a:schemeClr val="dk1"/>
              </a:solidFill>
              <a:latin typeface="DM Sans Light"/>
              <a:ea typeface="DM Sans Light"/>
              <a:cs typeface="DM Sans Light"/>
              <a:sym typeface="DM Sans Light"/>
            </a:endParaRPr>
          </a:p>
          <a:p>
            <a:pPr indent="-331153" lvl="0" marL="457200" rtl="0" algn="l">
              <a:spcBef>
                <a:spcPts val="1000"/>
              </a:spcBef>
              <a:spcAft>
                <a:spcPts val="0"/>
              </a:spcAft>
              <a:buClr>
                <a:schemeClr val="dk1"/>
              </a:buClr>
              <a:buSzPct val="100000"/>
              <a:buChar char="●"/>
            </a:pPr>
            <a:r>
              <a:rPr b="1" lang="en" sz="1900">
                <a:solidFill>
                  <a:schemeClr val="dk1"/>
                </a:solidFill>
              </a:rPr>
              <a:t>Natural Gas: $41.42/MWh</a:t>
            </a:r>
            <a:endParaRPr b="1" sz="1900">
              <a:solidFill>
                <a:schemeClr val="dk1"/>
              </a:solidFill>
            </a:endParaRPr>
          </a:p>
          <a:p>
            <a:pPr indent="-331153" lvl="0" marL="457200" rtl="0" algn="l">
              <a:spcBef>
                <a:spcPts val="1000"/>
              </a:spcBef>
              <a:spcAft>
                <a:spcPts val="0"/>
              </a:spcAft>
              <a:buClr>
                <a:schemeClr val="dk1"/>
              </a:buClr>
              <a:buSzPct val="100000"/>
              <a:buChar char="●"/>
            </a:pPr>
            <a:r>
              <a:rPr b="1" lang="en" sz="1900">
                <a:solidFill>
                  <a:schemeClr val="dk1"/>
                </a:solidFill>
              </a:rPr>
              <a:t>Land-Based Wind: $53.31/MWh</a:t>
            </a:r>
            <a:endParaRPr b="1" sz="1900">
              <a:solidFill>
                <a:schemeClr val="dk1"/>
              </a:solidFill>
            </a:endParaRPr>
          </a:p>
          <a:p>
            <a:pPr indent="-331153" lvl="0" marL="457200" rtl="0" algn="l">
              <a:spcBef>
                <a:spcPts val="1000"/>
              </a:spcBef>
              <a:spcAft>
                <a:spcPts val="1000"/>
              </a:spcAft>
              <a:buClr>
                <a:schemeClr val="dk1"/>
              </a:buClr>
              <a:buSzPct val="100000"/>
              <a:buChar char="●"/>
            </a:pPr>
            <a:r>
              <a:rPr b="1" lang="en" sz="1900">
                <a:solidFill>
                  <a:schemeClr val="dk1"/>
                </a:solidFill>
              </a:rPr>
              <a:t>Solar: $68.49/MWh</a:t>
            </a:r>
            <a:endParaRPr b="1" sz="1900">
              <a:solidFill>
                <a:schemeClr val="dk1"/>
              </a:solidFill>
            </a:endParaRPr>
          </a:p>
        </p:txBody>
      </p:sp>
      <p:pic>
        <p:nvPicPr>
          <p:cNvPr id="272" name="Google Shape;272;p40"/>
          <p:cNvPicPr preferRelativeResize="0"/>
          <p:nvPr/>
        </p:nvPicPr>
        <p:blipFill>
          <a:blip r:embed="rId3">
            <a:alphaModFix/>
          </a:blip>
          <a:stretch>
            <a:fillRect/>
          </a:stretch>
        </p:blipFill>
        <p:spPr>
          <a:xfrm>
            <a:off x="4938575" y="1413375"/>
            <a:ext cx="4077250" cy="2894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nvSpPr>
        <p:spPr>
          <a:xfrm>
            <a:off x="193700" y="1188700"/>
            <a:ext cx="2199600" cy="164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dk1"/>
                </a:solidFill>
                <a:latin typeface="DM Sans SemiBold"/>
                <a:ea typeface="DM Sans SemiBold"/>
                <a:cs typeface="DM Sans SemiBold"/>
                <a:sym typeface="DM Sans SemiBold"/>
              </a:rPr>
              <a:t>Pdf equation:</a:t>
            </a:r>
            <a:endParaRPr sz="1600">
              <a:solidFill>
                <a:schemeClr val="dk1"/>
              </a:solidFill>
              <a:latin typeface="DM Sans SemiBold"/>
              <a:ea typeface="DM Sans SemiBold"/>
              <a:cs typeface="DM Sans SemiBold"/>
              <a:sym typeface="DM Sans SemiBold"/>
            </a:endParaRPr>
          </a:p>
          <a:p>
            <a:pPr indent="0" lvl="0" marL="0" rtl="0" algn="l">
              <a:lnSpc>
                <a:spcPct val="100000"/>
              </a:lnSpc>
              <a:spcBef>
                <a:spcPts val="0"/>
              </a:spcBef>
              <a:spcAft>
                <a:spcPts val="0"/>
              </a:spcAft>
              <a:buNone/>
            </a:pPr>
            <a:r>
              <a:t/>
            </a:r>
            <a:endParaRPr sz="1600">
              <a:solidFill>
                <a:schemeClr val="dk1"/>
              </a:solidFill>
              <a:latin typeface="DM Sans SemiBold"/>
              <a:ea typeface="DM Sans SemiBold"/>
              <a:cs typeface="DM Sans SemiBold"/>
              <a:sym typeface="DM Sans SemiBold"/>
            </a:endParaRPr>
          </a:p>
          <a:p>
            <a:pPr indent="0" lvl="0" marL="0" rtl="0" algn="l">
              <a:lnSpc>
                <a:spcPct val="100000"/>
              </a:lnSpc>
              <a:spcBef>
                <a:spcPts val="0"/>
              </a:spcBef>
              <a:spcAft>
                <a:spcPts val="0"/>
              </a:spcAft>
              <a:buNone/>
            </a:pPr>
            <a:r>
              <a:t/>
            </a:r>
            <a:endParaRPr sz="1600">
              <a:solidFill>
                <a:schemeClr val="dk1"/>
              </a:solidFill>
              <a:latin typeface="DM Sans SemiBold"/>
              <a:ea typeface="DM Sans SemiBold"/>
              <a:cs typeface="DM Sans SemiBold"/>
              <a:sym typeface="DM Sans SemiBold"/>
            </a:endParaRPr>
          </a:p>
          <a:p>
            <a:pPr indent="0" lvl="0" marL="0" rtl="0" algn="l">
              <a:lnSpc>
                <a:spcPct val="100000"/>
              </a:lnSpc>
              <a:spcBef>
                <a:spcPts val="0"/>
              </a:spcBef>
              <a:spcAft>
                <a:spcPts val="0"/>
              </a:spcAft>
              <a:buNone/>
            </a:pPr>
            <a:r>
              <a:rPr lang="en" sz="1600">
                <a:solidFill>
                  <a:schemeClr val="dk1"/>
                </a:solidFill>
                <a:latin typeface="DM Sans SemiBold"/>
                <a:ea typeface="DM Sans SemiBold"/>
                <a:cs typeface="DM Sans SemiBold"/>
                <a:sym typeface="DM Sans SemiBold"/>
              </a:rPr>
              <a:t>Cdf equation: </a:t>
            </a:r>
            <a:endParaRPr sz="1600">
              <a:solidFill>
                <a:schemeClr val="dk1"/>
              </a:solidFill>
              <a:latin typeface="DM Sans SemiBold"/>
              <a:ea typeface="DM Sans SemiBold"/>
              <a:cs typeface="DM Sans SemiBold"/>
              <a:sym typeface="DM Sans SemiBold"/>
            </a:endParaRPr>
          </a:p>
          <a:p>
            <a:pPr indent="0" lvl="0" marL="0" rtl="0" algn="l">
              <a:spcBef>
                <a:spcPts val="0"/>
              </a:spcBef>
              <a:spcAft>
                <a:spcPts val="0"/>
              </a:spcAft>
              <a:buNone/>
            </a:pPr>
            <a:r>
              <a:t/>
            </a:r>
            <a:endParaRPr sz="1600">
              <a:solidFill>
                <a:schemeClr val="dk2"/>
              </a:solidFill>
              <a:latin typeface="DM Sans SemiBold"/>
              <a:ea typeface="DM Sans SemiBold"/>
              <a:cs typeface="DM Sans SemiBold"/>
              <a:sym typeface="DM Sans SemiBold"/>
            </a:endParaRPr>
          </a:p>
          <a:p>
            <a:pPr indent="0" lvl="0" marL="0" rtl="0" algn="l">
              <a:spcBef>
                <a:spcPts val="0"/>
              </a:spcBef>
              <a:spcAft>
                <a:spcPts val="0"/>
              </a:spcAft>
              <a:buNone/>
            </a:pPr>
            <a:r>
              <a:t/>
            </a:r>
            <a:endParaRPr sz="1600">
              <a:solidFill>
                <a:schemeClr val="dk2"/>
              </a:solidFill>
              <a:latin typeface="DM Sans SemiBold"/>
              <a:ea typeface="DM Sans SemiBold"/>
              <a:cs typeface="DM Sans SemiBold"/>
              <a:sym typeface="DM Sans SemiBold"/>
            </a:endParaRPr>
          </a:p>
          <a:p>
            <a:pPr indent="0" lvl="0" marL="0" rtl="0" algn="l">
              <a:spcBef>
                <a:spcPts val="0"/>
              </a:spcBef>
              <a:spcAft>
                <a:spcPts val="0"/>
              </a:spcAft>
              <a:buNone/>
            </a:pPr>
            <a:r>
              <a:rPr lang="en" sz="1600">
                <a:solidFill>
                  <a:schemeClr val="dk1"/>
                </a:solidFill>
                <a:latin typeface="DM Sans SemiBold"/>
                <a:ea typeface="DM Sans SemiBold"/>
                <a:cs typeface="DM Sans SemiBold"/>
                <a:sym typeface="DM Sans SemiBold"/>
              </a:rPr>
              <a:t>Parameters:</a:t>
            </a:r>
            <a:endParaRPr sz="1600">
              <a:solidFill>
                <a:schemeClr val="dk1"/>
              </a:solidFill>
              <a:latin typeface="DM Sans SemiBold"/>
              <a:ea typeface="DM Sans SemiBold"/>
              <a:cs typeface="DM Sans SemiBold"/>
              <a:sym typeface="DM Sans SemiBold"/>
            </a:endParaRPr>
          </a:p>
        </p:txBody>
      </p:sp>
      <p:sp>
        <p:nvSpPr>
          <p:cNvPr id="278" name="Google Shape;278;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Vehicle Lifetime </a:t>
            </a:r>
            <a:r>
              <a:rPr lang="en" sz="3000"/>
              <a:t>Model</a:t>
            </a:r>
            <a:r>
              <a:rPr lang="en" sz="3000"/>
              <a:t> - Weibull Function</a:t>
            </a:r>
            <a:endParaRPr sz="3000"/>
          </a:p>
        </p:txBody>
      </p:sp>
      <p:grpSp>
        <p:nvGrpSpPr>
          <p:cNvPr id="279" name="Google Shape;279;p41"/>
          <p:cNvGrpSpPr/>
          <p:nvPr/>
        </p:nvGrpSpPr>
        <p:grpSpPr>
          <a:xfrm>
            <a:off x="770200" y="3006975"/>
            <a:ext cx="3202246" cy="2022209"/>
            <a:chOff x="193694" y="2571761"/>
            <a:chExt cx="3033579" cy="1965600"/>
          </a:xfrm>
        </p:grpSpPr>
        <p:sp>
          <p:nvSpPr>
            <p:cNvPr id="280" name="Google Shape;280;p41"/>
            <p:cNvSpPr txBox="1"/>
            <p:nvPr/>
          </p:nvSpPr>
          <p:spPr>
            <a:xfrm>
              <a:off x="193694" y="2571761"/>
              <a:ext cx="1548900" cy="19656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solidFill>
                    <a:schemeClr val="dk1"/>
                  </a:solidFill>
                  <a:latin typeface="DM Sans SemiBold"/>
                  <a:ea typeface="DM Sans SemiBold"/>
                  <a:cs typeface="DM Sans SemiBold"/>
                  <a:sym typeface="DM Sans SemiBold"/>
                </a:rPr>
                <a:t>Gasoline (ICE)</a:t>
              </a:r>
              <a:endParaRPr sz="1200">
                <a:solidFill>
                  <a:schemeClr val="dk1"/>
                </a:solidFill>
                <a:latin typeface="DM Sans SemiBold"/>
                <a:ea typeface="DM Sans SemiBold"/>
                <a:cs typeface="DM Sans SemiBold"/>
                <a:sym typeface="DM Sans SemiBold"/>
              </a:endParaRPr>
            </a:p>
            <a:p>
              <a:pPr indent="-304800" lvl="0" marL="457200" rtl="0" algn="l">
                <a:lnSpc>
                  <a:spcPct val="150000"/>
                </a:lnSpc>
                <a:spcBef>
                  <a:spcPts val="0"/>
                </a:spcBef>
                <a:spcAft>
                  <a:spcPts val="0"/>
                </a:spcAft>
                <a:buClr>
                  <a:schemeClr val="dk1"/>
                </a:buClr>
                <a:buSzPts val="1200"/>
                <a:buFont typeface="Poppins Light"/>
                <a:buChar char="●"/>
              </a:pPr>
              <a:r>
                <a:rPr lang="en" sz="1200">
                  <a:solidFill>
                    <a:schemeClr val="dk1"/>
                  </a:solidFill>
                  <a:latin typeface="DM Sans SemiBold"/>
                  <a:ea typeface="DM Sans SemiBold"/>
                  <a:cs typeface="DM Sans SemiBold"/>
                  <a:sym typeface="DM Sans SemiBold"/>
                </a:rPr>
                <a:t>η</a:t>
              </a:r>
              <a:r>
                <a:rPr lang="en" sz="1200">
                  <a:solidFill>
                    <a:schemeClr val="dk1"/>
                  </a:solidFill>
                  <a:latin typeface="DM Sans Light"/>
                  <a:ea typeface="DM Sans Light"/>
                  <a:cs typeface="DM Sans Light"/>
                  <a:sym typeface="DM Sans Light"/>
                </a:rPr>
                <a:t> = 11.6</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Light"/>
                <a:buChar char="●"/>
              </a:pPr>
              <a:r>
                <a:rPr lang="en" sz="1200">
                  <a:solidFill>
                    <a:schemeClr val="dk1"/>
                  </a:solidFill>
                  <a:latin typeface="DM Sans SemiBold"/>
                  <a:ea typeface="DM Sans SemiBold"/>
                  <a:cs typeface="DM Sans SemiBold"/>
                  <a:sym typeface="DM Sans SemiBold"/>
                </a:rPr>
                <a:t>β</a:t>
              </a:r>
              <a:r>
                <a:rPr lang="en" sz="1200">
                  <a:solidFill>
                    <a:schemeClr val="dk1"/>
                  </a:solidFill>
                  <a:latin typeface="DM Sans Light"/>
                  <a:ea typeface="DM Sans Light"/>
                  <a:cs typeface="DM Sans Light"/>
                  <a:sym typeface="DM Sans Light"/>
                </a:rPr>
                <a:t> = 1.9 </a:t>
              </a:r>
              <a:endParaRPr sz="1200">
                <a:solidFill>
                  <a:schemeClr val="dk1"/>
                </a:solidFill>
                <a:latin typeface="DM Sans Light"/>
                <a:ea typeface="DM Sans Light"/>
                <a:cs typeface="DM Sans Light"/>
                <a:sym typeface="DM Sans Light"/>
              </a:endParaRPr>
            </a:p>
            <a:p>
              <a:pPr indent="0" lvl="0" marL="0" rtl="0" algn="l">
                <a:lnSpc>
                  <a:spcPct val="100000"/>
                </a:lnSpc>
                <a:spcBef>
                  <a:spcPts val="0"/>
                </a:spcBef>
                <a:spcAft>
                  <a:spcPts val="0"/>
                </a:spcAft>
                <a:buNone/>
              </a:pPr>
              <a:r>
                <a:t/>
              </a:r>
              <a:endParaRPr sz="1200">
                <a:solidFill>
                  <a:schemeClr val="dk1"/>
                </a:solidFill>
                <a:latin typeface="DM Sans SemiBold"/>
                <a:ea typeface="DM Sans SemiBold"/>
                <a:cs typeface="DM Sans SemiBold"/>
                <a:sym typeface="DM Sans SemiBold"/>
              </a:endParaRPr>
            </a:p>
            <a:p>
              <a:pPr indent="0" lvl="0" marL="0" rtl="0" algn="l">
                <a:lnSpc>
                  <a:spcPct val="135714"/>
                </a:lnSpc>
                <a:spcBef>
                  <a:spcPts val="0"/>
                </a:spcBef>
                <a:spcAft>
                  <a:spcPts val="0"/>
                </a:spcAft>
                <a:buNone/>
              </a:pPr>
              <a:r>
                <a:rPr lang="en" sz="1200">
                  <a:solidFill>
                    <a:schemeClr val="dk1"/>
                  </a:solidFill>
                  <a:latin typeface="DM Sans SemiBold"/>
                  <a:ea typeface="DM Sans SemiBold"/>
                  <a:cs typeface="DM Sans SemiBold"/>
                  <a:sym typeface="DM Sans SemiBold"/>
                </a:rPr>
                <a:t>Hybrid (PHEV)</a:t>
              </a:r>
              <a:endParaRPr sz="1200">
                <a:solidFill>
                  <a:schemeClr val="dk1"/>
                </a:solidFill>
                <a:latin typeface="DM Sans SemiBold"/>
                <a:ea typeface="DM Sans SemiBold"/>
                <a:cs typeface="DM Sans SemiBold"/>
                <a:sym typeface="DM Sans SemiBold"/>
              </a:endParaRPr>
            </a:p>
            <a:p>
              <a:pPr indent="-304800" lvl="0" marL="457200" rtl="0" algn="l">
                <a:lnSpc>
                  <a:spcPct val="150000"/>
                </a:lnSpc>
                <a:spcBef>
                  <a:spcPts val="0"/>
                </a:spcBef>
                <a:spcAft>
                  <a:spcPts val="0"/>
                </a:spcAft>
                <a:buClr>
                  <a:schemeClr val="dk1"/>
                </a:buClr>
                <a:buSzPts val="1200"/>
                <a:buFont typeface="Poppins Light"/>
                <a:buChar char="●"/>
              </a:pPr>
              <a:r>
                <a:rPr lang="en" sz="1200">
                  <a:solidFill>
                    <a:schemeClr val="dk1"/>
                  </a:solidFill>
                  <a:latin typeface="DM Sans SemiBold"/>
                  <a:ea typeface="DM Sans SemiBold"/>
                  <a:cs typeface="DM Sans SemiBold"/>
                  <a:sym typeface="DM Sans SemiBold"/>
                </a:rPr>
                <a:t>η</a:t>
              </a:r>
              <a:r>
                <a:rPr lang="en" sz="1200">
                  <a:solidFill>
                    <a:schemeClr val="dk1"/>
                  </a:solidFill>
                  <a:latin typeface="DM Sans SemiBold"/>
                  <a:ea typeface="DM Sans SemiBold"/>
                  <a:cs typeface="DM Sans SemiBold"/>
                  <a:sym typeface="DM Sans SemiBold"/>
                </a:rPr>
                <a:t> </a:t>
              </a:r>
              <a:r>
                <a:rPr lang="en" sz="1200">
                  <a:solidFill>
                    <a:schemeClr val="dk1"/>
                  </a:solidFill>
                  <a:latin typeface="DM Sans Light"/>
                  <a:ea typeface="DM Sans Light"/>
                  <a:cs typeface="DM Sans Light"/>
                  <a:sym typeface="DM Sans Light"/>
                </a:rPr>
                <a:t>= 12.4</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Light"/>
                <a:buChar char="●"/>
              </a:pPr>
              <a:r>
                <a:rPr lang="en" sz="1200">
                  <a:solidFill>
                    <a:schemeClr val="dk1"/>
                  </a:solidFill>
                  <a:latin typeface="DM Sans SemiBold"/>
                  <a:ea typeface="DM Sans SemiBold"/>
                  <a:cs typeface="DM Sans SemiBold"/>
                  <a:sym typeface="DM Sans SemiBold"/>
                </a:rPr>
                <a:t>β</a:t>
              </a:r>
              <a:r>
                <a:rPr lang="en" sz="1200">
                  <a:solidFill>
                    <a:schemeClr val="dk1"/>
                  </a:solidFill>
                  <a:latin typeface="DM Sans SemiBold"/>
                  <a:ea typeface="DM Sans SemiBold"/>
                  <a:cs typeface="DM Sans SemiBold"/>
                  <a:sym typeface="DM Sans SemiBold"/>
                </a:rPr>
                <a:t> </a:t>
              </a:r>
              <a:r>
                <a:rPr lang="en" sz="1200">
                  <a:solidFill>
                    <a:schemeClr val="dk1"/>
                  </a:solidFill>
                  <a:latin typeface="DM Sans Light"/>
                  <a:ea typeface="DM Sans Light"/>
                  <a:cs typeface="DM Sans Light"/>
                  <a:sym typeface="DM Sans Light"/>
                </a:rPr>
                <a:t>= 2.0</a:t>
              </a:r>
              <a:endParaRPr sz="1200">
                <a:solidFill>
                  <a:schemeClr val="dk1"/>
                </a:solidFill>
                <a:latin typeface="DM Sans Light"/>
                <a:ea typeface="DM Sans Light"/>
                <a:cs typeface="DM Sans Light"/>
                <a:sym typeface="DM Sans Light"/>
              </a:endParaRPr>
            </a:p>
          </p:txBody>
        </p:sp>
        <p:sp>
          <p:nvSpPr>
            <p:cNvPr id="281" name="Google Shape;281;p41"/>
            <p:cNvSpPr txBox="1"/>
            <p:nvPr/>
          </p:nvSpPr>
          <p:spPr>
            <a:xfrm>
              <a:off x="1821773" y="2571761"/>
              <a:ext cx="1405500" cy="19656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solidFill>
                    <a:schemeClr val="dk1"/>
                  </a:solidFill>
                  <a:latin typeface="DM Sans SemiBold"/>
                  <a:ea typeface="DM Sans SemiBold"/>
                  <a:cs typeface="DM Sans SemiBold"/>
                  <a:sym typeface="DM Sans SemiBold"/>
                </a:rPr>
                <a:t>Electric (BEV)</a:t>
              </a:r>
              <a:endParaRPr sz="1200">
                <a:solidFill>
                  <a:schemeClr val="dk1"/>
                </a:solidFill>
                <a:latin typeface="DM Sans SemiBold"/>
                <a:ea typeface="DM Sans SemiBold"/>
                <a:cs typeface="DM Sans SemiBold"/>
                <a:sym typeface="DM Sans SemiBold"/>
              </a:endParaRPr>
            </a:p>
            <a:p>
              <a:pPr indent="-304800" lvl="0" marL="457200" rtl="0" algn="l">
                <a:lnSpc>
                  <a:spcPct val="150000"/>
                </a:lnSpc>
                <a:spcBef>
                  <a:spcPts val="0"/>
                </a:spcBef>
                <a:spcAft>
                  <a:spcPts val="0"/>
                </a:spcAft>
                <a:buClr>
                  <a:schemeClr val="dk1"/>
                </a:buClr>
                <a:buSzPts val="1200"/>
                <a:buFont typeface="Poppins Light"/>
                <a:buChar char="●"/>
              </a:pPr>
              <a:r>
                <a:rPr lang="en" sz="1200">
                  <a:solidFill>
                    <a:schemeClr val="dk1"/>
                  </a:solidFill>
                  <a:latin typeface="DM Sans SemiBold"/>
                  <a:ea typeface="DM Sans SemiBold"/>
                  <a:cs typeface="DM Sans SemiBold"/>
                  <a:sym typeface="DM Sans SemiBold"/>
                </a:rPr>
                <a:t>η </a:t>
              </a:r>
              <a:r>
                <a:rPr lang="en" sz="1200">
                  <a:solidFill>
                    <a:schemeClr val="dk1"/>
                  </a:solidFill>
                  <a:latin typeface="DM Sans Light"/>
                  <a:ea typeface="DM Sans Light"/>
                  <a:cs typeface="DM Sans Light"/>
                  <a:sym typeface="DM Sans Light"/>
                </a:rPr>
                <a:t>= 13.3</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Light"/>
                <a:buChar char="●"/>
              </a:pPr>
              <a:r>
                <a:rPr lang="en" sz="1200">
                  <a:solidFill>
                    <a:schemeClr val="dk1"/>
                  </a:solidFill>
                  <a:latin typeface="DM Sans SemiBold"/>
                  <a:ea typeface="DM Sans SemiBold"/>
                  <a:cs typeface="DM Sans SemiBold"/>
                  <a:sym typeface="DM Sans SemiBold"/>
                </a:rPr>
                <a:t>β </a:t>
              </a:r>
              <a:r>
                <a:rPr lang="en" sz="1200">
                  <a:solidFill>
                    <a:schemeClr val="dk1"/>
                  </a:solidFill>
                  <a:latin typeface="DM Sans Light"/>
                  <a:ea typeface="DM Sans Light"/>
                  <a:cs typeface="DM Sans Light"/>
                  <a:sym typeface="DM Sans Light"/>
                </a:rPr>
                <a:t>= 2.1</a:t>
              </a:r>
              <a:endParaRPr sz="1200">
                <a:solidFill>
                  <a:schemeClr val="dk1"/>
                </a:solidFill>
                <a:latin typeface="DM Sans Light"/>
                <a:ea typeface="DM Sans Light"/>
                <a:cs typeface="DM Sans Light"/>
                <a:sym typeface="DM Sans Light"/>
              </a:endParaRPr>
            </a:p>
          </p:txBody>
        </p:sp>
      </p:grpSp>
      <p:pic>
        <p:nvPicPr>
          <p:cNvPr id="282" name="Google Shape;282;p41"/>
          <p:cNvPicPr preferRelativeResize="0"/>
          <p:nvPr/>
        </p:nvPicPr>
        <p:blipFill>
          <a:blip r:embed="rId3">
            <a:alphaModFix/>
          </a:blip>
          <a:stretch>
            <a:fillRect/>
          </a:stretch>
        </p:blipFill>
        <p:spPr>
          <a:xfrm>
            <a:off x="1840650" y="970750"/>
            <a:ext cx="2124751" cy="805041"/>
          </a:xfrm>
          <a:prstGeom prst="rect">
            <a:avLst/>
          </a:prstGeom>
          <a:noFill/>
          <a:ln>
            <a:noFill/>
          </a:ln>
        </p:spPr>
      </p:pic>
      <p:pic>
        <p:nvPicPr>
          <p:cNvPr id="283" name="Google Shape;283;p41"/>
          <p:cNvPicPr preferRelativeResize="0"/>
          <p:nvPr/>
        </p:nvPicPr>
        <p:blipFill>
          <a:blip r:embed="rId4">
            <a:alphaModFix/>
          </a:blip>
          <a:stretch>
            <a:fillRect/>
          </a:stretch>
        </p:blipFill>
        <p:spPr>
          <a:xfrm>
            <a:off x="1840650" y="1862650"/>
            <a:ext cx="1982699" cy="709100"/>
          </a:xfrm>
          <a:prstGeom prst="rect">
            <a:avLst/>
          </a:prstGeom>
          <a:noFill/>
          <a:ln>
            <a:noFill/>
          </a:ln>
        </p:spPr>
      </p:pic>
      <p:pic>
        <p:nvPicPr>
          <p:cNvPr id="284" name="Google Shape;284;p41"/>
          <p:cNvPicPr preferRelativeResize="0"/>
          <p:nvPr/>
        </p:nvPicPr>
        <p:blipFill>
          <a:blip r:embed="rId5">
            <a:alphaModFix/>
          </a:blip>
          <a:stretch>
            <a:fillRect/>
          </a:stretch>
        </p:blipFill>
        <p:spPr>
          <a:xfrm>
            <a:off x="4214925" y="1188699"/>
            <a:ext cx="4514250" cy="3902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Lifetime Emissions Functions</a:t>
            </a:r>
            <a:endParaRPr/>
          </a:p>
        </p:txBody>
      </p:sp>
      <p:sp>
        <p:nvSpPr>
          <p:cNvPr id="290" name="Google Shape;290;p42"/>
          <p:cNvSpPr txBox="1"/>
          <p:nvPr/>
        </p:nvSpPr>
        <p:spPr>
          <a:xfrm>
            <a:off x="212175" y="1085700"/>
            <a:ext cx="3103800" cy="34170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Poppins"/>
              <a:buChar char="●"/>
            </a:pPr>
            <a:r>
              <a:rPr b="1" i="1" lang="en" sz="1200">
                <a:solidFill>
                  <a:schemeClr val="dk1"/>
                </a:solidFill>
                <a:latin typeface="DM Sans"/>
                <a:ea typeface="DM Sans"/>
                <a:cs typeface="DM Sans"/>
                <a:sym typeface="DM Sans"/>
              </a:rPr>
              <a:t>C </a:t>
            </a:r>
            <a:r>
              <a:rPr b="1" lang="en" sz="1200">
                <a:solidFill>
                  <a:schemeClr val="dk1"/>
                </a:solidFill>
                <a:latin typeface="DM Sans"/>
                <a:ea typeface="DM Sans"/>
                <a:cs typeface="DM Sans"/>
                <a:sym typeface="DM Sans"/>
              </a:rPr>
              <a:t>:</a:t>
            </a:r>
            <a:r>
              <a:rPr lang="en" sz="1200">
                <a:solidFill>
                  <a:schemeClr val="dk1"/>
                </a:solidFill>
                <a:latin typeface="DM Sans"/>
                <a:ea typeface="DM Sans"/>
                <a:cs typeface="DM Sans"/>
                <a:sym typeface="DM Sans"/>
              </a:rPr>
              <a:t> </a:t>
            </a:r>
            <a:r>
              <a:rPr lang="en" sz="1200">
                <a:solidFill>
                  <a:schemeClr val="dk1"/>
                </a:solidFill>
                <a:latin typeface="DM Sans Light"/>
                <a:ea typeface="DM Sans Light"/>
                <a:cs typeface="DM Sans Light"/>
                <a:sym typeface="DM Sans Light"/>
              </a:rPr>
              <a:t>Initial manufacturing emissions</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a:buChar char="●"/>
            </a:pPr>
            <a:r>
              <a:rPr b="1" i="1" lang="en" sz="1200">
                <a:solidFill>
                  <a:schemeClr val="dk1"/>
                </a:solidFill>
                <a:latin typeface="DM Sans"/>
                <a:ea typeface="DM Sans"/>
                <a:cs typeface="DM Sans"/>
                <a:sym typeface="DM Sans"/>
              </a:rPr>
              <a:t>E(X) </a:t>
            </a:r>
            <a:r>
              <a:rPr b="1" lang="en" sz="1200">
                <a:solidFill>
                  <a:schemeClr val="dk1"/>
                </a:solidFill>
                <a:latin typeface="DM Sans"/>
                <a:ea typeface="DM Sans"/>
                <a:cs typeface="DM Sans"/>
                <a:sym typeface="DM Sans"/>
              </a:rPr>
              <a:t>:</a:t>
            </a:r>
            <a:r>
              <a:rPr lang="en" sz="1200">
                <a:solidFill>
                  <a:schemeClr val="dk1"/>
                </a:solidFill>
                <a:latin typeface="DM Sans"/>
                <a:ea typeface="DM Sans"/>
                <a:cs typeface="DM Sans"/>
                <a:sym typeface="DM Sans"/>
              </a:rPr>
              <a:t> </a:t>
            </a:r>
            <a:r>
              <a:rPr lang="en" sz="1200">
                <a:solidFill>
                  <a:schemeClr val="dk1"/>
                </a:solidFill>
                <a:latin typeface="DM Sans Light"/>
                <a:ea typeface="DM Sans Light"/>
                <a:cs typeface="DM Sans Light"/>
                <a:sym typeface="DM Sans Light"/>
              </a:rPr>
              <a:t>Expected number of years until failure</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a:buChar char="●"/>
            </a:pPr>
            <a:r>
              <a:rPr b="1" i="1" lang="en" sz="1200">
                <a:solidFill>
                  <a:schemeClr val="dk1"/>
                </a:solidFill>
                <a:latin typeface="DM Sans"/>
                <a:ea typeface="DM Sans"/>
                <a:cs typeface="DM Sans"/>
                <a:sym typeface="DM Sans"/>
              </a:rPr>
              <a:t>MPG </a:t>
            </a:r>
            <a:r>
              <a:rPr b="1" lang="en" sz="1200">
                <a:solidFill>
                  <a:schemeClr val="dk1"/>
                </a:solidFill>
                <a:latin typeface="DM Sans"/>
                <a:ea typeface="DM Sans"/>
                <a:cs typeface="DM Sans"/>
                <a:sym typeface="DM Sans"/>
              </a:rPr>
              <a:t>: </a:t>
            </a:r>
            <a:r>
              <a:rPr lang="en" sz="1200">
                <a:solidFill>
                  <a:schemeClr val="dk1"/>
                </a:solidFill>
                <a:latin typeface="DM Sans Light"/>
                <a:ea typeface="DM Sans Light"/>
                <a:cs typeface="DM Sans Light"/>
                <a:sym typeface="DM Sans Light"/>
              </a:rPr>
              <a:t>Miles per gallon of each vehicle</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a:buChar char="●"/>
            </a:pPr>
            <a:r>
              <a:rPr b="1" i="1" lang="en" sz="1200">
                <a:solidFill>
                  <a:schemeClr val="dk1"/>
                </a:solidFill>
                <a:latin typeface="DM Sans"/>
                <a:ea typeface="DM Sans"/>
                <a:cs typeface="DM Sans"/>
                <a:sym typeface="DM Sans"/>
              </a:rPr>
              <a:t>MPY </a:t>
            </a:r>
            <a:r>
              <a:rPr b="1" lang="en" sz="1200">
                <a:solidFill>
                  <a:schemeClr val="dk1"/>
                </a:solidFill>
                <a:latin typeface="DM Sans"/>
                <a:ea typeface="DM Sans"/>
                <a:cs typeface="DM Sans"/>
                <a:sym typeface="DM Sans"/>
              </a:rPr>
              <a:t>: </a:t>
            </a:r>
            <a:r>
              <a:rPr lang="en" sz="1200">
                <a:solidFill>
                  <a:schemeClr val="dk1"/>
                </a:solidFill>
                <a:latin typeface="DM Sans Light"/>
                <a:ea typeface="DM Sans Light"/>
                <a:cs typeface="DM Sans Light"/>
                <a:sym typeface="DM Sans Light"/>
              </a:rPr>
              <a:t>Miles driven per year</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a:buChar char="●"/>
            </a:pPr>
            <a:r>
              <a:rPr b="1" i="1" lang="en" sz="1200">
                <a:solidFill>
                  <a:schemeClr val="dk1"/>
                </a:solidFill>
                <a:latin typeface="DM Sans"/>
                <a:ea typeface="DM Sans"/>
                <a:cs typeface="DM Sans"/>
                <a:sym typeface="DM Sans"/>
              </a:rPr>
              <a:t>OilCoef </a:t>
            </a:r>
            <a:r>
              <a:rPr b="1" lang="en" sz="1200">
                <a:solidFill>
                  <a:schemeClr val="dk1"/>
                </a:solidFill>
                <a:latin typeface="DM Sans"/>
                <a:ea typeface="DM Sans"/>
                <a:cs typeface="DM Sans"/>
                <a:sym typeface="DM Sans"/>
              </a:rPr>
              <a:t>: </a:t>
            </a:r>
            <a:r>
              <a:rPr lang="en" sz="1200">
                <a:solidFill>
                  <a:schemeClr val="dk1"/>
                </a:solidFill>
                <a:latin typeface="DM Sans Light"/>
                <a:ea typeface="DM Sans Light"/>
                <a:cs typeface="DM Sans Light"/>
                <a:sym typeface="DM Sans Light"/>
              </a:rPr>
              <a:t>Amount of carbon emissions per gallon of oil consumed</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a:buChar char="●"/>
            </a:pPr>
            <a:r>
              <a:rPr b="1" i="1" lang="en" sz="1200">
                <a:solidFill>
                  <a:schemeClr val="dk1"/>
                </a:solidFill>
                <a:latin typeface="DM Sans"/>
                <a:ea typeface="DM Sans"/>
                <a:cs typeface="DM Sans"/>
                <a:sym typeface="DM Sans"/>
              </a:rPr>
              <a:t>MPE </a:t>
            </a:r>
            <a:r>
              <a:rPr b="1" lang="en" sz="1200">
                <a:solidFill>
                  <a:schemeClr val="dk1"/>
                </a:solidFill>
                <a:latin typeface="DM Sans"/>
                <a:ea typeface="DM Sans"/>
                <a:cs typeface="DM Sans"/>
                <a:sym typeface="DM Sans"/>
              </a:rPr>
              <a:t>:</a:t>
            </a:r>
            <a:r>
              <a:rPr lang="en" sz="1200">
                <a:solidFill>
                  <a:schemeClr val="dk1"/>
                </a:solidFill>
                <a:latin typeface="DM Sans"/>
                <a:ea typeface="DM Sans"/>
                <a:cs typeface="DM Sans"/>
                <a:sym typeface="DM Sans"/>
              </a:rPr>
              <a:t> </a:t>
            </a:r>
            <a:r>
              <a:rPr lang="en" sz="1200">
                <a:solidFill>
                  <a:schemeClr val="dk1"/>
                </a:solidFill>
                <a:latin typeface="DM Sans Light"/>
                <a:ea typeface="DM Sans Light"/>
                <a:cs typeface="DM Sans Light"/>
                <a:sym typeface="DM Sans Light"/>
              </a:rPr>
              <a:t>Miles per unit of electricity</a:t>
            </a:r>
            <a:endParaRPr sz="1200">
              <a:solidFill>
                <a:schemeClr val="dk1"/>
              </a:solidFill>
              <a:latin typeface="DM Sans Light"/>
              <a:ea typeface="DM Sans Light"/>
              <a:cs typeface="DM Sans Light"/>
              <a:sym typeface="DM Sans Light"/>
            </a:endParaRPr>
          </a:p>
          <a:p>
            <a:pPr indent="-304800" lvl="0" marL="457200" rtl="0" algn="l">
              <a:lnSpc>
                <a:spcPct val="150000"/>
              </a:lnSpc>
              <a:spcBef>
                <a:spcPts val="0"/>
              </a:spcBef>
              <a:spcAft>
                <a:spcPts val="0"/>
              </a:spcAft>
              <a:buClr>
                <a:schemeClr val="dk1"/>
              </a:buClr>
              <a:buSzPts val="1200"/>
              <a:buFont typeface="Poppins"/>
              <a:buChar char="●"/>
            </a:pPr>
            <a:r>
              <a:rPr b="1" i="1" lang="en" sz="1200">
                <a:solidFill>
                  <a:schemeClr val="dk1"/>
                </a:solidFill>
                <a:latin typeface="DM Sans"/>
                <a:ea typeface="DM Sans"/>
                <a:cs typeface="DM Sans"/>
                <a:sym typeface="DM Sans"/>
              </a:rPr>
              <a:t>dR/dr </a:t>
            </a:r>
            <a:r>
              <a:rPr b="1" lang="en" sz="1200">
                <a:solidFill>
                  <a:schemeClr val="dk1"/>
                </a:solidFill>
                <a:latin typeface="DM Sans"/>
                <a:ea typeface="DM Sans"/>
                <a:cs typeface="DM Sans"/>
                <a:sym typeface="DM Sans"/>
              </a:rPr>
              <a:t>:</a:t>
            </a:r>
            <a:r>
              <a:rPr lang="en" sz="1200">
                <a:solidFill>
                  <a:schemeClr val="dk1"/>
                </a:solidFill>
                <a:latin typeface="DM Sans"/>
                <a:ea typeface="DM Sans"/>
                <a:cs typeface="DM Sans"/>
                <a:sym typeface="DM Sans"/>
              </a:rPr>
              <a:t> </a:t>
            </a:r>
            <a:r>
              <a:rPr lang="en" sz="1200">
                <a:solidFill>
                  <a:schemeClr val="dk1"/>
                </a:solidFill>
                <a:latin typeface="DM Sans Light"/>
                <a:ea typeface="DM Sans Light"/>
                <a:cs typeface="DM Sans Light"/>
                <a:sym typeface="DM Sans Light"/>
              </a:rPr>
              <a:t>Carbon emissions of the electric grid per unit of energy</a:t>
            </a:r>
            <a:endParaRPr sz="1200">
              <a:latin typeface="DM Sans Light"/>
              <a:ea typeface="DM Sans Light"/>
              <a:cs typeface="DM Sans Light"/>
              <a:sym typeface="DM Sans Light"/>
            </a:endParaRPr>
          </a:p>
        </p:txBody>
      </p:sp>
      <p:grpSp>
        <p:nvGrpSpPr>
          <p:cNvPr id="291" name="Google Shape;291;p42"/>
          <p:cNvGrpSpPr/>
          <p:nvPr/>
        </p:nvGrpSpPr>
        <p:grpSpPr>
          <a:xfrm>
            <a:off x="3315975" y="1643400"/>
            <a:ext cx="5669325" cy="2464350"/>
            <a:chOff x="3315975" y="1599700"/>
            <a:chExt cx="5669325" cy="2464350"/>
          </a:xfrm>
        </p:grpSpPr>
        <p:pic>
          <p:nvPicPr>
            <p:cNvPr id="292" name="Google Shape;292;p42"/>
            <p:cNvPicPr preferRelativeResize="0"/>
            <p:nvPr/>
          </p:nvPicPr>
          <p:blipFill>
            <a:blip r:embed="rId3">
              <a:alphaModFix/>
            </a:blip>
            <a:stretch>
              <a:fillRect/>
            </a:stretch>
          </p:blipFill>
          <p:spPr>
            <a:xfrm>
              <a:off x="3315975" y="1599700"/>
              <a:ext cx="5669325" cy="665350"/>
            </a:xfrm>
            <a:prstGeom prst="rect">
              <a:avLst/>
            </a:prstGeom>
            <a:noFill/>
            <a:ln>
              <a:noFill/>
            </a:ln>
          </p:spPr>
        </p:pic>
        <p:pic>
          <p:nvPicPr>
            <p:cNvPr id="293" name="Google Shape;293;p42"/>
            <p:cNvPicPr preferRelativeResize="0"/>
            <p:nvPr/>
          </p:nvPicPr>
          <p:blipFill>
            <a:blip r:embed="rId4">
              <a:alphaModFix/>
            </a:blip>
            <a:stretch>
              <a:fillRect/>
            </a:stretch>
          </p:blipFill>
          <p:spPr>
            <a:xfrm>
              <a:off x="3604050" y="3347925"/>
              <a:ext cx="5093174" cy="716125"/>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 of Yearly Emissions by Vehicle</a:t>
            </a:r>
            <a:endParaRPr/>
          </a:p>
        </p:txBody>
      </p:sp>
      <p:pic>
        <p:nvPicPr>
          <p:cNvPr id="299" name="Google Shape;299;p43"/>
          <p:cNvPicPr preferRelativeResize="0"/>
          <p:nvPr/>
        </p:nvPicPr>
        <p:blipFill>
          <a:blip r:embed="rId3">
            <a:alphaModFix/>
          </a:blip>
          <a:stretch>
            <a:fillRect/>
          </a:stretch>
        </p:blipFill>
        <p:spPr>
          <a:xfrm>
            <a:off x="419277" y="1156700"/>
            <a:ext cx="3521475" cy="3541499"/>
          </a:xfrm>
          <a:prstGeom prst="rect">
            <a:avLst/>
          </a:prstGeom>
          <a:noFill/>
          <a:ln>
            <a:noFill/>
          </a:ln>
        </p:spPr>
      </p:pic>
      <p:sp>
        <p:nvSpPr>
          <p:cNvPr id="300" name="Google Shape;300;p43"/>
          <p:cNvSpPr txBox="1"/>
          <p:nvPr/>
        </p:nvSpPr>
        <p:spPr>
          <a:xfrm>
            <a:off x="4682100" y="1156700"/>
            <a:ext cx="3845700" cy="35247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DM Sans Light"/>
              <a:buChar char="●"/>
            </a:pPr>
            <a:r>
              <a:rPr lang="en" sz="1300">
                <a:solidFill>
                  <a:schemeClr val="dk1"/>
                </a:solidFill>
                <a:latin typeface="DM Sans Light"/>
                <a:ea typeface="DM Sans Light"/>
                <a:cs typeface="DM Sans Light"/>
                <a:sym typeface="DM Sans Light"/>
              </a:rPr>
              <a:t>Using the estimated lifespan of each vehicle from the Weibull function, and the lifetime emissions equations, we calculated the estimated yearly emissions</a:t>
            </a:r>
            <a:endParaRPr sz="1300">
              <a:solidFill>
                <a:schemeClr val="dk1"/>
              </a:solidFill>
              <a:latin typeface="DM Sans Light"/>
              <a:ea typeface="DM Sans Light"/>
              <a:cs typeface="DM Sans Light"/>
              <a:sym typeface="DM Sans Light"/>
            </a:endParaRPr>
          </a:p>
          <a:p>
            <a:pPr indent="-311150" lvl="0" marL="457200" rtl="0" algn="l">
              <a:spcBef>
                <a:spcPts val="1000"/>
              </a:spcBef>
              <a:spcAft>
                <a:spcPts val="0"/>
              </a:spcAft>
              <a:buClr>
                <a:schemeClr val="dk1"/>
              </a:buClr>
              <a:buSzPts val="1300"/>
              <a:buFont typeface="DM Sans Light"/>
              <a:buChar char="●"/>
            </a:pPr>
            <a:r>
              <a:rPr lang="en" sz="1300">
                <a:solidFill>
                  <a:schemeClr val="dk1"/>
                </a:solidFill>
                <a:latin typeface="DM Sans Light"/>
                <a:ea typeface="DM Sans Light"/>
                <a:cs typeface="DM Sans Light"/>
                <a:sym typeface="DM Sans Light"/>
              </a:rPr>
              <a:t>Despite ICE vehicles producing less CO2 emissions during the production stage than comparative PHEV or BEV vehicles, their estimated yearly CO2 emissions more than double that of BEV vehicles</a:t>
            </a:r>
            <a:endParaRPr sz="1300">
              <a:solidFill>
                <a:schemeClr val="dk1"/>
              </a:solidFill>
              <a:latin typeface="DM Sans Light"/>
              <a:ea typeface="DM Sans Light"/>
              <a:cs typeface="DM Sans Light"/>
              <a:sym typeface="DM Sans Light"/>
            </a:endParaRPr>
          </a:p>
          <a:p>
            <a:pPr indent="-311150" lvl="0" marL="457200" rtl="0" algn="l">
              <a:spcBef>
                <a:spcPts val="1000"/>
              </a:spcBef>
              <a:spcAft>
                <a:spcPts val="0"/>
              </a:spcAft>
              <a:buClr>
                <a:schemeClr val="dk1"/>
              </a:buClr>
              <a:buSzPts val="1300"/>
              <a:buFont typeface="DM Sans Light"/>
              <a:buChar char="●"/>
            </a:pPr>
            <a:r>
              <a:rPr lang="en" sz="1300">
                <a:solidFill>
                  <a:schemeClr val="dk1"/>
                </a:solidFill>
                <a:latin typeface="DM Sans Light"/>
                <a:ea typeface="DM Sans Light"/>
                <a:cs typeface="DM Sans Light"/>
                <a:sym typeface="DM Sans Light"/>
              </a:rPr>
              <a:t>Yearly emissions of PHEV vehicles much more similarly resemble those of BEV vehicles than ICE vehicles</a:t>
            </a:r>
            <a:endParaRPr sz="1300">
              <a:solidFill>
                <a:schemeClr val="dk1"/>
              </a:solidFill>
              <a:latin typeface="DM Sans Light"/>
              <a:ea typeface="DM Sans Light"/>
              <a:cs typeface="DM Sans Light"/>
              <a:sym typeface="DM Sans Light"/>
            </a:endParaRPr>
          </a:p>
          <a:p>
            <a:pPr indent="0" lvl="0" marL="0" rtl="0" algn="l">
              <a:spcBef>
                <a:spcPts val="1000"/>
              </a:spcBef>
              <a:spcAft>
                <a:spcPts val="0"/>
              </a:spcAft>
              <a:buNone/>
            </a:pPr>
            <a:r>
              <a:t/>
            </a:r>
            <a:endParaRPr sz="1200">
              <a:solidFill>
                <a:schemeClr val="dk1"/>
              </a:solidFill>
              <a:latin typeface="DM Sans Light"/>
              <a:ea typeface="DM Sans Light"/>
              <a:cs typeface="DM Sans Light"/>
              <a:sym typeface="DM Sans Light"/>
            </a:endParaRPr>
          </a:p>
          <a:p>
            <a:pPr indent="0" lvl="0" marL="0" rtl="0" algn="l">
              <a:spcBef>
                <a:spcPts val="0"/>
              </a:spcBef>
              <a:spcAft>
                <a:spcPts val="0"/>
              </a:spcAft>
              <a:buNone/>
            </a:pPr>
            <a:r>
              <a:t/>
            </a:r>
            <a:endParaRPr sz="1200">
              <a:solidFill>
                <a:schemeClr val="dk1"/>
              </a:solidFill>
              <a:latin typeface="DM Sans Light"/>
              <a:ea typeface="DM Sans Light"/>
              <a:cs typeface="DM Sans Light"/>
              <a:sym typeface="DM Sans Light"/>
            </a:endParaRPr>
          </a:p>
          <a:p>
            <a:pPr indent="0" lvl="0" marL="0" rtl="0" algn="r">
              <a:spcBef>
                <a:spcPts val="0"/>
              </a:spcBef>
              <a:spcAft>
                <a:spcPts val="0"/>
              </a:spcAft>
              <a:buNone/>
            </a:pPr>
            <a:r>
              <a:rPr i="1" lang="en" sz="1200">
                <a:solidFill>
                  <a:schemeClr val="dk1"/>
                </a:solidFill>
                <a:latin typeface="DM Sans Light"/>
                <a:ea typeface="DM Sans Light"/>
                <a:cs typeface="DM Sans Light"/>
                <a:sym typeface="DM Sans Light"/>
              </a:rPr>
              <a:t>Orange = ICE</a:t>
            </a:r>
            <a:r>
              <a:rPr i="1" lang="en" sz="1200">
                <a:solidFill>
                  <a:schemeClr val="dk1"/>
                </a:solidFill>
                <a:latin typeface="DM Sans Light"/>
                <a:ea typeface="DM Sans Light"/>
                <a:cs typeface="DM Sans Light"/>
                <a:sym typeface="DM Sans Light"/>
              </a:rPr>
              <a:t>, Blue = PHEV</a:t>
            </a:r>
            <a:r>
              <a:rPr i="1" lang="en" sz="1200">
                <a:solidFill>
                  <a:schemeClr val="dk1"/>
                </a:solidFill>
                <a:latin typeface="DM Sans Light"/>
                <a:ea typeface="DM Sans Light"/>
                <a:cs typeface="DM Sans Light"/>
                <a:sym typeface="DM Sans Light"/>
              </a:rPr>
              <a:t>, Green = BEV</a:t>
            </a:r>
            <a:endParaRPr i="1" sz="1200">
              <a:solidFill>
                <a:schemeClr val="dk1"/>
              </a:solidFill>
              <a:latin typeface="DM Sans Light"/>
              <a:ea typeface="DM Sans Light"/>
              <a:cs typeface="DM Sans Light"/>
              <a:sym typeface="DM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05"/>
              <a:t>Comparison of Vehicle Emissions by Mileage and Lifespan</a:t>
            </a:r>
            <a:endParaRPr sz="3005"/>
          </a:p>
        </p:txBody>
      </p:sp>
      <p:pic>
        <p:nvPicPr>
          <p:cNvPr id="306" name="Google Shape;306;p44"/>
          <p:cNvPicPr preferRelativeResize="0"/>
          <p:nvPr/>
        </p:nvPicPr>
        <p:blipFill>
          <a:blip r:embed="rId3">
            <a:alphaModFix/>
          </a:blip>
          <a:stretch>
            <a:fillRect/>
          </a:stretch>
        </p:blipFill>
        <p:spPr>
          <a:xfrm>
            <a:off x="453650" y="1539850"/>
            <a:ext cx="5150227" cy="1702197"/>
          </a:xfrm>
          <a:prstGeom prst="rect">
            <a:avLst/>
          </a:prstGeom>
          <a:noFill/>
          <a:ln>
            <a:noFill/>
          </a:ln>
        </p:spPr>
      </p:pic>
      <p:sp>
        <p:nvSpPr>
          <p:cNvPr id="307" name="Google Shape;307;p44"/>
          <p:cNvSpPr txBox="1"/>
          <p:nvPr/>
        </p:nvSpPr>
        <p:spPr>
          <a:xfrm>
            <a:off x="5700025" y="1453575"/>
            <a:ext cx="3028800" cy="3259200"/>
          </a:xfrm>
          <a:prstGeom prst="rect">
            <a:avLst/>
          </a:prstGeom>
          <a:noFill/>
          <a:ln>
            <a:noFill/>
          </a:ln>
        </p:spPr>
        <p:txBody>
          <a:bodyPr anchorCtr="0" anchor="t" bIns="91425" lIns="91425" spcFirstLastPara="1" rIns="91425" wrap="square" tIns="91425">
            <a:noAutofit/>
          </a:bodyPr>
          <a:lstStyle/>
          <a:p>
            <a:pPr indent="0" lvl="0" marL="0" rtl="0" algn="l">
              <a:spcBef>
                <a:spcPts val="40"/>
              </a:spcBef>
              <a:spcAft>
                <a:spcPts val="0"/>
              </a:spcAft>
              <a:buNone/>
            </a:pPr>
            <a:r>
              <a:rPr lang="en">
                <a:solidFill>
                  <a:schemeClr val="dk1"/>
                </a:solidFill>
                <a:latin typeface="DM Sans Light"/>
                <a:ea typeface="DM Sans Light"/>
                <a:cs typeface="DM Sans Light"/>
                <a:sym typeface="DM Sans Light"/>
              </a:rPr>
              <a:t>As mileage and lifespan increase, ICE vehicles emit significantly more CO</a:t>
            </a:r>
            <a:r>
              <a:rPr baseline="-25000" lang="en">
                <a:solidFill>
                  <a:schemeClr val="dk1"/>
                </a:solidFill>
                <a:latin typeface="DM Sans Light"/>
                <a:ea typeface="DM Sans Light"/>
                <a:cs typeface="DM Sans Light"/>
                <a:sym typeface="DM Sans Light"/>
              </a:rPr>
              <a:t>2</a:t>
            </a:r>
            <a:r>
              <a:rPr lang="en">
                <a:solidFill>
                  <a:schemeClr val="dk1"/>
                </a:solidFill>
                <a:latin typeface="DM Sans Light"/>
                <a:ea typeface="DM Sans Light"/>
                <a:cs typeface="DM Sans Light"/>
                <a:sym typeface="DM Sans Light"/>
              </a:rPr>
              <a:t> than PHEVs and EVs across all classes. EVs’ higher initial value is associated with their production emissions, specifically in battery manufacturing.</a:t>
            </a:r>
            <a:endParaRPr>
              <a:solidFill>
                <a:schemeClr val="dk1"/>
              </a:solidFill>
              <a:latin typeface="DM Sans Light"/>
              <a:ea typeface="DM Sans Light"/>
              <a:cs typeface="DM Sans Light"/>
              <a:sym typeface="DM Sans Light"/>
            </a:endParaRPr>
          </a:p>
          <a:p>
            <a:pPr indent="0" lvl="0" marL="0" rtl="0" algn="l">
              <a:lnSpc>
                <a:spcPct val="115000"/>
              </a:lnSpc>
              <a:spcBef>
                <a:spcPts val="40"/>
              </a:spcBef>
              <a:spcAft>
                <a:spcPts val="0"/>
              </a:spcAft>
              <a:buNone/>
            </a:pPr>
            <a:r>
              <a:t/>
            </a:r>
            <a:endParaRPr>
              <a:solidFill>
                <a:schemeClr val="dk1"/>
              </a:solidFill>
              <a:latin typeface="DM Sans Light"/>
              <a:ea typeface="DM Sans Light"/>
              <a:cs typeface="DM Sans Light"/>
              <a:sym typeface="DM Sans Light"/>
            </a:endParaRPr>
          </a:p>
          <a:p>
            <a:pPr indent="0" lvl="0" marL="0" rtl="0" algn="l">
              <a:spcBef>
                <a:spcPts val="40"/>
              </a:spcBef>
              <a:spcAft>
                <a:spcPts val="0"/>
              </a:spcAft>
              <a:buNone/>
            </a:pPr>
            <a:r>
              <a:rPr lang="en">
                <a:solidFill>
                  <a:schemeClr val="dk1"/>
                </a:solidFill>
                <a:latin typeface="DM Sans Light"/>
                <a:ea typeface="DM Sans Light"/>
                <a:cs typeface="DM Sans Light"/>
                <a:sym typeface="DM Sans Light"/>
              </a:rPr>
              <a:t>Average yearly </a:t>
            </a:r>
            <a:r>
              <a:rPr lang="en">
                <a:solidFill>
                  <a:schemeClr val="dk1"/>
                </a:solidFill>
                <a:latin typeface="DM Sans Light"/>
                <a:ea typeface="DM Sans Light"/>
                <a:cs typeface="DM Sans Light"/>
                <a:sym typeface="DM Sans Light"/>
              </a:rPr>
              <a:t>CO</a:t>
            </a:r>
            <a:r>
              <a:rPr baseline="-25000" lang="en">
                <a:solidFill>
                  <a:schemeClr val="dk1"/>
                </a:solidFill>
                <a:latin typeface="DM Sans Light"/>
                <a:ea typeface="DM Sans Light"/>
                <a:cs typeface="DM Sans Light"/>
                <a:sym typeface="DM Sans Light"/>
              </a:rPr>
              <a:t>2</a:t>
            </a:r>
            <a:r>
              <a:rPr lang="en">
                <a:solidFill>
                  <a:schemeClr val="dk1"/>
                </a:solidFill>
                <a:latin typeface="DM Sans Light"/>
                <a:ea typeface="DM Sans Light"/>
                <a:cs typeface="DM Sans Light"/>
                <a:sym typeface="DM Sans Light"/>
              </a:rPr>
              <a:t> emissions by vehicle lifespan, showing EV break- even points with PHEVs and ICE vehicles.</a:t>
            </a:r>
            <a:endParaRPr>
              <a:solidFill>
                <a:schemeClr val="dk1"/>
              </a:solidFill>
              <a:latin typeface="DM Sans Light"/>
              <a:ea typeface="DM Sans Light"/>
              <a:cs typeface="DM Sans Light"/>
              <a:sym typeface="DM Sans Light"/>
            </a:endParaRPr>
          </a:p>
        </p:txBody>
      </p:sp>
      <p:pic>
        <p:nvPicPr>
          <p:cNvPr id="308" name="Google Shape;308;p44"/>
          <p:cNvPicPr preferRelativeResize="0"/>
          <p:nvPr/>
        </p:nvPicPr>
        <p:blipFill>
          <a:blip r:embed="rId4">
            <a:alphaModFix/>
          </a:blip>
          <a:stretch>
            <a:fillRect/>
          </a:stretch>
        </p:blipFill>
        <p:spPr>
          <a:xfrm>
            <a:off x="453650" y="3290650"/>
            <a:ext cx="5150220" cy="1678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314" name="Google Shape;314;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17183" lvl="0" marL="457200" rtl="0" algn="l">
              <a:spcBef>
                <a:spcPts val="1000"/>
              </a:spcBef>
              <a:spcAft>
                <a:spcPts val="0"/>
              </a:spcAft>
              <a:buClr>
                <a:schemeClr val="dk1"/>
              </a:buClr>
              <a:buSzPct val="100000"/>
              <a:buFont typeface="DM Sans Light"/>
              <a:buChar char="●"/>
            </a:pPr>
            <a:r>
              <a:rPr lang="en" sz="1800">
                <a:solidFill>
                  <a:schemeClr val="dk1"/>
                </a:solidFill>
                <a:latin typeface="DM Sans Light"/>
                <a:ea typeface="DM Sans Light"/>
                <a:cs typeface="DM Sans Light"/>
                <a:sym typeface="DM Sans Light"/>
              </a:rPr>
              <a:t>Calculated</a:t>
            </a:r>
            <a:r>
              <a:rPr lang="en" sz="1800">
                <a:solidFill>
                  <a:schemeClr val="dk1"/>
                </a:solidFill>
                <a:latin typeface="DM Sans Light"/>
                <a:ea typeface="DM Sans Light"/>
                <a:cs typeface="DM Sans Light"/>
                <a:sym typeface="DM Sans Light"/>
              </a:rPr>
              <a:t> the weighted average LCOE of the energy grid under ~450 scenarios, in which shares of solar and land-based wind increase and shares of fossil fuels decrease, then found the additional subsidy required to implement each energy mix and the resulting reduction in carbon emissions, modeled as a marginal cost curve</a:t>
            </a:r>
            <a:endParaRPr sz="1800">
              <a:solidFill>
                <a:schemeClr val="dk1"/>
              </a:solidFill>
              <a:latin typeface="DM Sans Light"/>
              <a:ea typeface="DM Sans Light"/>
              <a:cs typeface="DM Sans Light"/>
              <a:sym typeface="DM Sans Light"/>
            </a:endParaRPr>
          </a:p>
          <a:p>
            <a:pPr indent="-317183" lvl="0" marL="457200" rtl="0" algn="l">
              <a:spcBef>
                <a:spcPts val="1200"/>
              </a:spcBef>
              <a:spcAft>
                <a:spcPts val="0"/>
              </a:spcAft>
              <a:buClr>
                <a:schemeClr val="dk1"/>
              </a:buClr>
              <a:buSzPct val="100000"/>
              <a:buFont typeface="DM Sans Light"/>
              <a:buChar char="●"/>
            </a:pPr>
            <a:r>
              <a:rPr lang="en" sz="1800">
                <a:solidFill>
                  <a:schemeClr val="dk1"/>
                </a:solidFill>
                <a:latin typeface="DM Sans Light"/>
                <a:ea typeface="DM Sans Light"/>
                <a:cs typeface="DM Sans Light"/>
                <a:sym typeface="DM Sans Light"/>
              </a:rPr>
              <a:t>Calculated the lifetime emissions as a constant for ICE </a:t>
            </a:r>
            <a:r>
              <a:rPr lang="en" sz="1800">
                <a:solidFill>
                  <a:schemeClr val="dk1"/>
                </a:solidFill>
                <a:latin typeface="DM Sans Light"/>
                <a:ea typeface="DM Sans Light"/>
                <a:cs typeface="DM Sans Light"/>
                <a:sym typeface="DM Sans Light"/>
              </a:rPr>
              <a:t>vehicles (</a:t>
            </a:r>
            <a:r>
              <a:rPr b="1" lang="en" sz="1800">
                <a:solidFill>
                  <a:schemeClr val="dk1"/>
                </a:solidFill>
              </a:rPr>
              <a:t>55,160.7 kg CO</a:t>
            </a:r>
            <a:r>
              <a:rPr b="1" baseline="-25000" lang="en" sz="1800">
                <a:solidFill>
                  <a:schemeClr val="dk1"/>
                </a:solidFill>
              </a:rPr>
              <a:t>2</a:t>
            </a:r>
            <a:r>
              <a:rPr lang="en" sz="1800">
                <a:solidFill>
                  <a:schemeClr val="dk1"/>
                </a:solidFill>
                <a:latin typeface="DM Sans Light"/>
                <a:ea typeface="DM Sans Light"/>
                <a:cs typeface="DM Sans Light"/>
                <a:sym typeface="DM Sans Light"/>
              </a:rPr>
              <a:t> for sedans and SUVs; </a:t>
            </a:r>
            <a:r>
              <a:rPr b="1" lang="en" sz="1800">
                <a:solidFill>
                  <a:schemeClr val="dk1"/>
                </a:solidFill>
              </a:rPr>
              <a:t>84,192.63 kg CO</a:t>
            </a:r>
            <a:r>
              <a:rPr b="1" baseline="-25000" lang="en" sz="1800">
                <a:solidFill>
                  <a:schemeClr val="dk1"/>
                </a:solidFill>
              </a:rPr>
              <a:t>2</a:t>
            </a:r>
            <a:r>
              <a:rPr lang="en" sz="1800">
                <a:solidFill>
                  <a:schemeClr val="dk1"/>
                </a:solidFill>
                <a:latin typeface="DM Sans Light"/>
                <a:ea typeface="DM Sans Light"/>
                <a:cs typeface="DM Sans Light"/>
                <a:sym typeface="DM Sans Light"/>
              </a:rPr>
              <a:t> for trucks) and under every energy composition scenario for EVs, and found the carbon savings per vehicle as the difference between the two</a:t>
            </a:r>
            <a:endParaRPr sz="1800">
              <a:solidFill>
                <a:schemeClr val="dk1"/>
              </a:solidFill>
              <a:latin typeface="DM Sans Light"/>
              <a:ea typeface="DM Sans Light"/>
              <a:cs typeface="DM Sans Light"/>
              <a:sym typeface="DM Sans Light"/>
            </a:endParaRPr>
          </a:p>
          <a:p>
            <a:pPr indent="-317182" lvl="1" marL="914400" rtl="0" algn="l">
              <a:spcBef>
                <a:spcPts val="1200"/>
              </a:spcBef>
              <a:spcAft>
                <a:spcPts val="0"/>
              </a:spcAft>
              <a:buClr>
                <a:schemeClr val="dk1"/>
              </a:buClr>
              <a:buSzPct val="100000"/>
              <a:buFont typeface="DM Sans Light"/>
              <a:buChar char="○"/>
            </a:pPr>
            <a:r>
              <a:rPr lang="en" sz="1800">
                <a:solidFill>
                  <a:schemeClr val="dk1"/>
                </a:solidFill>
                <a:latin typeface="DM Sans Light"/>
                <a:ea typeface="DM Sans Light"/>
                <a:cs typeface="DM Sans Light"/>
                <a:sym typeface="DM Sans Light"/>
              </a:rPr>
              <a:t>Lifetime emissions for ICE sedans and SUVs are the same because they have the same MPG; differences in production emissions is factored into the ICE-EV delta used to create the array of EV CO</a:t>
            </a:r>
            <a:r>
              <a:rPr baseline="-25000" lang="en" sz="1800">
                <a:solidFill>
                  <a:schemeClr val="dk1"/>
                </a:solidFill>
                <a:latin typeface="DM Sans Light"/>
                <a:ea typeface="DM Sans Light"/>
                <a:cs typeface="DM Sans Light"/>
                <a:sym typeface="DM Sans Light"/>
              </a:rPr>
              <a:t>2 </a:t>
            </a:r>
            <a:r>
              <a:rPr lang="en" sz="1800">
                <a:solidFill>
                  <a:schemeClr val="dk1"/>
                </a:solidFill>
                <a:latin typeface="DM Sans Light"/>
                <a:ea typeface="DM Sans Light"/>
                <a:cs typeface="DM Sans Light"/>
                <a:sym typeface="DM Sans Light"/>
              </a:rPr>
              <a:t>reductions in all possible electricity composition scenarios</a:t>
            </a:r>
            <a:endParaRPr sz="1800">
              <a:solidFill>
                <a:schemeClr val="dk1"/>
              </a:solidFill>
              <a:latin typeface="DM Sans Light"/>
              <a:ea typeface="DM Sans Light"/>
              <a:cs typeface="DM Sans Light"/>
              <a:sym typeface="DM Sans Light"/>
            </a:endParaRPr>
          </a:p>
          <a:p>
            <a:pPr indent="-317183" lvl="0" marL="457200" rtl="0" algn="l">
              <a:spcBef>
                <a:spcPts val="1200"/>
              </a:spcBef>
              <a:spcAft>
                <a:spcPts val="1200"/>
              </a:spcAft>
              <a:buClr>
                <a:schemeClr val="dk1"/>
              </a:buClr>
              <a:buSzPct val="100000"/>
              <a:buFont typeface="DM Sans Light"/>
              <a:buChar char="●"/>
            </a:pPr>
            <a:r>
              <a:rPr lang="en" sz="1800">
                <a:solidFill>
                  <a:schemeClr val="dk1"/>
                </a:solidFill>
                <a:latin typeface="DM Sans Light"/>
                <a:ea typeface="DM Sans Light"/>
                <a:cs typeface="DM Sans Light"/>
                <a:sym typeface="DM Sans Light"/>
              </a:rPr>
              <a:t>Used the calculated energy subsidies to find the reduction per dollar in vehicular carbon emissions, also modeled as a marginal cost curve</a:t>
            </a:r>
            <a:endParaRPr sz="1800">
              <a:solidFill>
                <a:schemeClr val="dk1"/>
              </a:solidFill>
              <a:latin typeface="DM Sans Light"/>
              <a:ea typeface="DM Sans Light"/>
              <a:cs typeface="DM Sans Light"/>
              <a:sym typeface="DM Sans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continued</a:t>
            </a:r>
            <a:endParaRPr/>
          </a:p>
        </p:txBody>
      </p:sp>
      <p:sp>
        <p:nvSpPr>
          <p:cNvPr id="320" name="Google Shape;320;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000"/>
              </a:spcBef>
              <a:spcAft>
                <a:spcPts val="0"/>
              </a:spcAft>
              <a:buNone/>
            </a:pPr>
            <a:r>
              <a:rPr lang="en" sz="1600">
                <a:solidFill>
                  <a:schemeClr val="dk1"/>
                </a:solidFill>
                <a:latin typeface="DM Sans Light"/>
                <a:ea typeface="DM Sans Light"/>
                <a:cs typeface="DM Sans Light"/>
                <a:sym typeface="DM Sans Light"/>
              </a:rPr>
              <a:t>We considered three versions of energy grid modification:</a:t>
            </a:r>
            <a:endParaRPr sz="1600">
              <a:solidFill>
                <a:schemeClr val="dk1"/>
              </a:solidFill>
              <a:latin typeface="DM Sans Light"/>
              <a:ea typeface="DM Sans Light"/>
              <a:cs typeface="DM Sans Light"/>
              <a:sym typeface="DM Sans Light"/>
            </a:endParaRPr>
          </a:p>
          <a:p>
            <a:pPr indent="-330200" lvl="0" marL="457200" rtl="0" algn="l">
              <a:spcBef>
                <a:spcPts val="1200"/>
              </a:spcBef>
              <a:spcAft>
                <a:spcPts val="0"/>
              </a:spcAft>
              <a:buClr>
                <a:schemeClr val="dk1"/>
              </a:buClr>
              <a:buSzPts val="1600"/>
              <a:buFont typeface="DM Sans Light"/>
              <a:buAutoNum type="arabicPeriod"/>
            </a:pPr>
            <a:r>
              <a:rPr lang="en" sz="1600">
                <a:solidFill>
                  <a:schemeClr val="dk1"/>
                </a:solidFill>
                <a:latin typeface="DM Sans Light"/>
                <a:ea typeface="DM Sans Light"/>
                <a:cs typeface="DM Sans Light"/>
                <a:sym typeface="DM Sans Light"/>
              </a:rPr>
              <a:t>The government perfectly phases out all coal, then all natural gas in favor of </a:t>
            </a:r>
            <a:r>
              <a:rPr lang="en" sz="1600">
                <a:solidFill>
                  <a:schemeClr val="dk1"/>
                </a:solidFill>
                <a:latin typeface="DM Sans Light"/>
                <a:ea typeface="DM Sans Light"/>
                <a:cs typeface="DM Sans Light"/>
                <a:sym typeface="DM Sans Light"/>
              </a:rPr>
              <a:t>solar</a:t>
            </a:r>
            <a:r>
              <a:rPr lang="en" sz="1600">
                <a:solidFill>
                  <a:schemeClr val="dk1"/>
                </a:solidFill>
                <a:latin typeface="DM Sans Light"/>
                <a:ea typeface="DM Sans Light"/>
                <a:cs typeface="DM Sans Light"/>
                <a:sym typeface="DM Sans Light"/>
              </a:rPr>
              <a:t> power and land-based wind </a:t>
            </a:r>
            <a:endParaRPr sz="1600">
              <a:solidFill>
                <a:schemeClr val="dk1"/>
              </a:solidFill>
              <a:latin typeface="DM Sans Light"/>
              <a:ea typeface="DM Sans Light"/>
              <a:cs typeface="DM Sans Light"/>
              <a:sym typeface="DM Sans Light"/>
            </a:endParaRPr>
          </a:p>
          <a:p>
            <a:pPr indent="-330200" lvl="0" marL="457200" rtl="0" algn="l">
              <a:spcBef>
                <a:spcPts val="0"/>
              </a:spcBef>
              <a:spcAft>
                <a:spcPts val="0"/>
              </a:spcAft>
              <a:buClr>
                <a:schemeClr val="dk1"/>
              </a:buClr>
              <a:buSzPts val="1600"/>
              <a:buFont typeface="DM Sans Light"/>
              <a:buAutoNum type="arabicPeriod"/>
            </a:pPr>
            <a:r>
              <a:rPr lang="en" sz="1600">
                <a:solidFill>
                  <a:schemeClr val="dk1"/>
                </a:solidFill>
                <a:latin typeface="DM Sans Light"/>
                <a:ea typeface="DM Sans Light"/>
                <a:cs typeface="DM Sans Light"/>
                <a:sym typeface="DM Sans Light"/>
              </a:rPr>
              <a:t>Coal and natural gas are phased out in favor of renewables simultaneously, in proportion to their initial weighting in the </a:t>
            </a:r>
            <a:r>
              <a:rPr lang="en" sz="1600">
                <a:solidFill>
                  <a:schemeClr val="dk1"/>
                </a:solidFill>
                <a:latin typeface="DM Sans Light"/>
                <a:ea typeface="DM Sans Light"/>
                <a:cs typeface="DM Sans Light"/>
                <a:sym typeface="DM Sans Light"/>
              </a:rPr>
              <a:t>energy</a:t>
            </a:r>
            <a:r>
              <a:rPr lang="en" sz="1600">
                <a:solidFill>
                  <a:schemeClr val="dk1"/>
                </a:solidFill>
                <a:latin typeface="DM Sans Light"/>
                <a:ea typeface="DM Sans Light"/>
                <a:cs typeface="DM Sans Light"/>
                <a:sym typeface="DM Sans Light"/>
              </a:rPr>
              <a:t> grid</a:t>
            </a:r>
            <a:endParaRPr sz="1600">
              <a:solidFill>
                <a:schemeClr val="dk1"/>
              </a:solidFill>
              <a:latin typeface="DM Sans Light"/>
              <a:ea typeface="DM Sans Light"/>
              <a:cs typeface="DM Sans Light"/>
              <a:sym typeface="DM Sans Light"/>
            </a:endParaRPr>
          </a:p>
          <a:p>
            <a:pPr indent="-330200" lvl="0" marL="457200" rtl="0" algn="l">
              <a:spcBef>
                <a:spcPts val="0"/>
              </a:spcBef>
              <a:spcAft>
                <a:spcPts val="0"/>
              </a:spcAft>
              <a:buClr>
                <a:schemeClr val="dk1"/>
              </a:buClr>
              <a:buSzPts val="1600"/>
              <a:buFont typeface="DM Sans Light"/>
              <a:buAutoNum type="arabicPeriod"/>
            </a:pPr>
            <a:r>
              <a:rPr lang="en" sz="1600">
                <a:solidFill>
                  <a:schemeClr val="dk1"/>
                </a:solidFill>
                <a:latin typeface="DM Sans Light"/>
                <a:ea typeface="DM Sans Light"/>
                <a:cs typeface="DM Sans Light"/>
                <a:sym typeface="DM Sans Light"/>
              </a:rPr>
              <a:t>The </a:t>
            </a:r>
            <a:r>
              <a:rPr lang="en" sz="1600">
                <a:solidFill>
                  <a:schemeClr val="dk1"/>
                </a:solidFill>
                <a:latin typeface="DM Sans Light"/>
                <a:ea typeface="DM Sans Light"/>
                <a:cs typeface="DM Sans Light"/>
                <a:sym typeface="DM Sans Light"/>
              </a:rPr>
              <a:t>government</a:t>
            </a:r>
            <a:r>
              <a:rPr lang="en" sz="1600">
                <a:solidFill>
                  <a:schemeClr val="dk1"/>
                </a:solidFill>
                <a:latin typeface="DM Sans Light"/>
                <a:ea typeface="DM Sans Light"/>
                <a:cs typeface="DM Sans Light"/>
                <a:sym typeface="DM Sans Light"/>
              </a:rPr>
              <a:t> has some control over which fossil fuels are phased out in favor of renewables, modeled by a </a:t>
            </a:r>
            <a:r>
              <a:rPr lang="en" sz="1600">
                <a:solidFill>
                  <a:schemeClr val="dk1"/>
                </a:solidFill>
                <a:latin typeface="DM Sans Light"/>
                <a:ea typeface="DM Sans Light"/>
                <a:cs typeface="DM Sans Light"/>
                <a:sym typeface="DM Sans Light"/>
              </a:rPr>
              <a:t>random</a:t>
            </a:r>
            <a:r>
              <a:rPr lang="en" sz="1600">
                <a:solidFill>
                  <a:schemeClr val="dk1"/>
                </a:solidFill>
                <a:latin typeface="DM Sans Light"/>
                <a:ea typeface="DM Sans Light"/>
                <a:cs typeface="DM Sans Light"/>
                <a:sym typeface="DM Sans Light"/>
              </a:rPr>
              <a:t> walk where p = 0.75 is the chance of a reduction  in coal in each iteration with 1-p = 0.25 is the chance of a reduction in natural gas in each iteration.</a:t>
            </a:r>
            <a:endParaRPr sz="1600">
              <a:solidFill>
                <a:schemeClr val="dk1"/>
              </a:solidFill>
              <a:latin typeface="DM Sans Light"/>
              <a:ea typeface="DM Sans Light"/>
              <a:cs typeface="DM Sans Light"/>
              <a:sym typeface="DM Sans Light"/>
            </a:endParaRPr>
          </a:p>
          <a:p>
            <a:pPr indent="0" lvl="0" marL="0" rtl="0" algn="l">
              <a:spcBef>
                <a:spcPts val="1200"/>
              </a:spcBef>
              <a:spcAft>
                <a:spcPts val="1200"/>
              </a:spcAft>
              <a:buNone/>
            </a:pPr>
            <a:r>
              <a:rPr lang="en" sz="1600">
                <a:solidFill>
                  <a:schemeClr val="dk1"/>
                </a:solidFill>
                <a:latin typeface="DM Sans Light"/>
                <a:ea typeface="DM Sans Light"/>
                <a:cs typeface="DM Sans Light"/>
                <a:sym typeface="DM Sans Light"/>
              </a:rPr>
              <a:t>Each iteration of the three scenarios represents a 1/10th of 1% change in the composition of the energy grid</a:t>
            </a:r>
            <a:endParaRPr sz="1600">
              <a:solidFill>
                <a:schemeClr val="dk1"/>
              </a:solidFill>
              <a:latin typeface="DM Sans Light"/>
              <a:ea typeface="DM Sans Light"/>
              <a:cs typeface="DM Sans Light"/>
              <a:sym typeface="DM Sans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Optimization</a:t>
            </a:r>
            <a:endParaRPr/>
          </a:p>
        </p:txBody>
      </p:sp>
      <p:sp>
        <p:nvSpPr>
          <p:cNvPr id="326" name="Google Shape;326;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30200" lvl="0" marL="457200" rtl="0" algn="l">
              <a:spcBef>
                <a:spcPts val="0"/>
              </a:spcBef>
              <a:spcAft>
                <a:spcPts val="0"/>
              </a:spcAft>
              <a:buClr>
                <a:schemeClr val="dk1"/>
              </a:buClr>
              <a:buSzPts val="1600"/>
              <a:buFont typeface="DM Sans Light"/>
              <a:buChar char="●"/>
            </a:pPr>
            <a:r>
              <a:rPr lang="en" sz="1900">
                <a:solidFill>
                  <a:schemeClr val="dk1"/>
                </a:solidFill>
                <a:latin typeface="DM Sans Light"/>
                <a:ea typeface="DM Sans Light"/>
                <a:cs typeface="DM Sans Light"/>
                <a:sym typeface="DM Sans Light"/>
              </a:rPr>
              <a:t>Constructed CO</a:t>
            </a:r>
            <a:r>
              <a:rPr baseline="-25000" lang="en" sz="1900">
                <a:solidFill>
                  <a:schemeClr val="dk1"/>
                </a:solidFill>
                <a:latin typeface="DM Sans Light"/>
                <a:ea typeface="DM Sans Light"/>
                <a:cs typeface="DM Sans Light"/>
                <a:sym typeface="DM Sans Light"/>
              </a:rPr>
              <a:t>2</a:t>
            </a:r>
            <a:r>
              <a:rPr lang="en" sz="1900">
                <a:solidFill>
                  <a:schemeClr val="dk1"/>
                </a:solidFill>
                <a:latin typeface="DM Sans Light"/>
                <a:ea typeface="DM Sans Light"/>
                <a:cs typeface="DM Sans Light"/>
                <a:sym typeface="DM Sans Light"/>
              </a:rPr>
              <a:t> reduction matrices (for the composition of the energy grid and EV adoption) and cost matrices (for electricity generation costs and EV subsidy costs)</a:t>
            </a:r>
            <a:endParaRPr sz="1900">
              <a:solidFill>
                <a:schemeClr val="dk1"/>
              </a:solidFill>
              <a:latin typeface="DM Sans Light"/>
              <a:ea typeface="DM Sans Light"/>
              <a:cs typeface="DM Sans Light"/>
              <a:sym typeface="DM Sans Light"/>
            </a:endParaRPr>
          </a:p>
          <a:p>
            <a:pPr indent="-349250" lvl="0" marL="457200" rtl="0" algn="l">
              <a:spcBef>
                <a:spcPts val="1000"/>
              </a:spcBef>
              <a:spcAft>
                <a:spcPts val="0"/>
              </a:spcAft>
              <a:buClr>
                <a:schemeClr val="dk1"/>
              </a:buClr>
              <a:buSzPts val="1900"/>
              <a:buFont typeface="DM Sans Light"/>
              <a:buChar char="●"/>
            </a:pPr>
            <a:r>
              <a:rPr lang="en" sz="1900">
                <a:solidFill>
                  <a:schemeClr val="dk1"/>
                </a:solidFill>
                <a:latin typeface="DM Sans Light"/>
                <a:ea typeface="DM Sans Light"/>
                <a:cs typeface="DM Sans Light"/>
                <a:sym typeface="DM Sans Light"/>
              </a:rPr>
              <a:t>Filtered out values that were too expensive/fell outside the given level of government expenditure </a:t>
            </a:r>
            <a:endParaRPr sz="1900">
              <a:solidFill>
                <a:schemeClr val="dk1"/>
              </a:solidFill>
              <a:latin typeface="DM Sans Light"/>
              <a:ea typeface="DM Sans Light"/>
              <a:cs typeface="DM Sans Light"/>
              <a:sym typeface="DM Sans Light"/>
            </a:endParaRPr>
          </a:p>
          <a:p>
            <a:pPr indent="-349250" lvl="0" marL="457200" rtl="0" algn="l">
              <a:spcBef>
                <a:spcPts val="1000"/>
              </a:spcBef>
              <a:spcAft>
                <a:spcPts val="1000"/>
              </a:spcAft>
              <a:buClr>
                <a:schemeClr val="dk1"/>
              </a:buClr>
              <a:buSzPts val="1900"/>
              <a:buFont typeface="DM Sans Light"/>
              <a:buChar char="●"/>
            </a:pPr>
            <a:r>
              <a:rPr lang="en" sz="1900">
                <a:solidFill>
                  <a:schemeClr val="dk1"/>
                </a:solidFill>
                <a:latin typeface="DM Sans Light"/>
                <a:ea typeface="DM Sans Light"/>
                <a:cs typeface="DM Sans Light"/>
                <a:sym typeface="DM Sans Light"/>
              </a:rPr>
              <a:t>Used the index of the greatest reduction in CO</a:t>
            </a:r>
            <a:r>
              <a:rPr baseline="-25000" lang="en" sz="1900">
                <a:solidFill>
                  <a:schemeClr val="dk1"/>
                </a:solidFill>
                <a:latin typeface="DM Sans Light"/>
                <a:ea typeface="DM Sans Light"/>
                <a:cs typeface="DM Sans Light"/>
                <a:sym typeface="DM Sans Light"/>
              </a:rPr>
              <a:t>2</a:t>
            </a:r>
            <a:r>
              <a:rPr lang="en" sz="1900">
                <a:solidFill>
                  <a:schemeClr val="dk1"/>
                </a:solidFill>
                <a:latin typeface="DM Sans Light"/>
                <a:ea typeface="DM Sans Light"/>
                <a:cs typeface="DM Sans Light"/>
                <a:sym typeface="DM Sans Light"/>
              </a:rPr>
              <a:t> emissions from the carbon reduction matrix in the cost matrices to determine the optimal distribution of spending on EV subsidies and renewable energy generation, as well as the total level of government expenditure necessary for this reduction in emissions</a:t>
            </a:r>
            <a:endParaRPr sz="1900">
              <a:solidFill>
                <a:schemeClr val="dk1"/>
              </a:solidFill>
              <a:latin typeface="DM Sans Light"/>
              <a:ea typeface="DM Sans Light"/>
              <a:cs typeface="DM Sans Light"/>
              <a:sym typeface="DM Sans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Optimization, </a:t>
            </a:r>
            <a:endParaRPr/>
          </a:p>
          <a:p>
            <a:pPr indent="0" lvl="0" marL="0" rtl="0" algn="l">
              <a:spcBef>
                <a:spcPts val="0"/>
              </a:spcBef>
              <a:spcAft>
                <a:spcPts val="0"/>
              </a:spcAft>
              <a:buNone/>
            </a:pPr>
            <a:r>
              <a:rPr lang="en"/>
              <a:t>continued</a:t>
            </a:r>
            <a:endParaRPr/>
          </a:p>
        </p:txBody>
      </p:sp>
      <p:sp>
        <p:nvSpPr>
          <p:cNvPr id="332" name="Google Shape;332;p48"/>
          <p:cNvSpPr txBox="1"/>
          <p:nvPr>
            <p:ph idx="1" type="body"/>
          </p:nvPr>
        </p:nvSpPr>
        <p:spPr>
          <a:xfrm>
            <a:off x="311700" y="1505075"/>
            <a:ext cx="3828900" cy="3178500"/>
          </a:xfrm>
          <a:prstGeom prst="rect">
            <a:avLst/>
          </a:prstGeom>
        </p:spPr>
        <p:txBody>
          <a:bodyPr anchorCtr="0" anchor="t" bIns="91425" lIns="91425" spcFirstLastPara="1" rIns="91425" wrap="square" tIns="91425">
            <a:normAutofit fontScale="70000" lnSpcReduction="20000"/>
          </a:bodyPr>
          <a:lstStyle/>
          <a:p>
            <a:pPr indent="-299720" lvl="0" marL="457200" rtl="0" algn="l">
              <a:lnSpc>
                <a:spcPct val="100000"/>
              </a:lnSpc>
              <a:spcBef>
                <a:spcPts val="0"/>
              </a:spcBef>
              <a:spcAft>
                <a:spcPts val="0"/>
              </a:spcAft>
              <a:buClr>
                <a:schemeClr val="dk1"/>
              </a:buClr>
              <a:buSzPct val="84211"/>
              <a:buFont typeface="DM Sans Light"/>
              <a:buChar char="●"/>
            </a:pPr>
            <a:r>
              <a:rPr lang="en" sz="1900">
                <a:solidFill>
                  <a:schemeClr val="dk1"/>
                </a:solidFill>
                <a:latin typeface="DM Sans Light"/>
                <a:ea typeface="DM Sans Light"/>
                <a:cs typeface="DM Sans Light"/>
                <a:sym typeface="DM Sans Light"/>
              </a:rPr>
              <a:t>Each </a:t>
            </a:r>
            <a:r>
              <a:rPr lang="en" sz="1900">
                <a:solidFill>
                  <a:schemeClr val="dk1"/>
                </a:solidFill>
                <a:latin typeface="DM Sans Light"/>
                <a:ea typeface="DM Sans Light"/>
                <a:cs typeface="DM Sans Light"/>
                <a:sym typeface="DM Sans Light"/>
              </a:rPr>
              <a:t>column represents one of the three modeled energy reduction scenarios</a:t>
            </a:r>
            <a:endParaRPr sz="1900">
              <a:solidFill>
                <a:schemeClr val="dk1"/>
              </a:solidFill>
              <a:latin typeface="DM Sans Light"/>
              <a:ea typeface="DM Sans Light"/>
              <a:cs typeface="DM Sans Light"/>
              <a:sym typeface="DM Sans Light"/>
            </a:endParaRPr>
          </a:p>
          <a:p>
            <a:pPr indent="-300355" lvl="1" marL="914400" rtl="0" algn="l">
              <a:lnSpc>
                <a:spcPct val="100000"/>
              </a:lnSpc>
              <a:spcBef>
                <a:spcPts val="1000"/>
              </a:spcBef>
              <a:spcAft>
                <a:spcPts val="0"/>
              </a:spcAft>
              <a:buClr>
                <a:schemeClr val="dk1"/>
              </a:buClr>
              <a:buSzPct val="100000"/>
              <a:buFont typeface="DM Sans Light"/>
              <a:buChar char="○"/>
            </a:pPr>
            <a:r>
              <a:rPr lang="en" sz="1614">
                <a:solidFill>
                  <a:schemeClr val="dk1"/>
                </a:solidFill>
                <a:latin typeface="DM Sans Light"/>
                <a:ea typeface="DM Sans Light"/>
                <a:cs typeface="DM Sans Light"/>
                <a:sym typeface="DM Sans Light"/>
              </a:rPr>
              <a:t>coal-first reduction</a:t>
            </a:r>
            <a:endParaRPr sz="1614">
              <a:solidFill>
                <a:schemeClr val="dk1"/>
              </a:solidFill>
              <a:latin typeface="DM Sans Light"/>
              <a:ea typeface="DM Sans Light"/>
              <a:cs typeface="DM Sans Light"/>
              <a:sym typeface="DM Sans Light"/>
            </a:endParaRPr>
          </a:p>
          <a:p>
            <a:pPr indent="-300355" lvl="1" marL="914400" rtl="0" algn="l">
              <a:lnSpc>
                <a:spcPct val="100000"/>
              </a:lnSpc>
              <a:spcBef>
                <a:spcPts val="1000"/>
              </a:spcBef>
              <a:spcAft>
                <a:spcPts val="0"/>
              </a:spcAft>
              <a:buClr>
                <a:schemeClr val="dk1"/>
              </a:buClr>
              <a:buSzPct val="100000"/>
              <a:buFont typeface="DM Sans Light"/>
              <a:buChar char="○"/>
            </a:pPr>
            <a:r>
              <a:rPr lang="en" sz="1614">
                <a:solidFill>
                  <a:schemeClr val="dk1"/>
                </a:solidFill>
                <a:latin typeface="DM Sans Light"/>
                <a:ea typeface="DM Sans Light"/>
                <a:cs typeface="DM Sans Light"/>
                <a:sym typeface="DM Sans Light"/>
              </a:rPr>
              <a:t>equal type reduction</a:t>
            </a:r>
            <a:endParaRPr sz="1614">
              <a:solidFill>
                <a:schemeClr val="dk1"/>
              </a:solidFill>
              <a:latin typeface="DM Sans Light"/>
              <a:ea typeface="DM Sans Light"/>
              <a:cs typeface="DM Sans Light"/>
              <a:sym typeface="DM Sans Light"/>
            </a:endParaRPr>
          </a:p>
          <a:p>
            <a:pPr indent="-300355" lvl="1" marL="914400" rtl="0" algn="l">
              <a:lnSpc>
                <a:spcPct val="100000"/>
              </a:lnSpc>
              <a:spcBef>
                <a:spcPts val="1000"/>
              </a:spcBef>
              <a:spcAft>
                <a:spcPts val="0"/>
              </a:spcAft>
              <a:buClr>
                <a:schemeClr val="dk1"/>
              </a:buClr>
              <a:buSzPct val="100000"/>
              <a:buFont typeface="DM Sans Light"/>
              <a:buChar char="○"/>
            </a:pPr>
            <a:r>
              <a:rPr lang="en" sz="1614">
                <a:solidFill>
                  <a:schemeClr val="dk1"/>
                </a:solidFill>
                <a:latin typeface="DM Sans Light"/>
                <a:ea typeface="DM Sans Light"/>
                <a:cs typeface="DM Sans Light"/>
                <a:sym typeface="DM Sans Light"/>
              </a:rPr>
              <a:t>random type reduction</a:t>
            </a:r>
            <a:endParaRPr sz="1614">
              <a:solidFill>
                <a:schemeClr val="dk1"/>
              </a:solidFill>
              <a:latin typeface="DM Sans Light"/>
              <a:ea typeface="DM Sans Light"/>
              <a:cs typeface="DM Sans Light"/>
              <a:sym typeface="DM Sans Light"/>
            </a:endParaRPr>
          </a:p>
          <a:p>
            <a:pPr indent="-313055" lvl="0" marL="457200" rtl="0" algn="l">
              <a:lnSpc>
                <a:spcPct val="100000"/>
              </a:lnSpc>
              <a:spcBef>
                <a:spcPts val="1000"/>
              </a:spcBef>
              <a:spcAft>
                <a:spcPts val="0"/>
              </a:spcAft>
              <a:buClr>
                <a:schemeClr val="dk1"/>
              </a:buClr>
              <a:buSzPct val="100000"/>
              <a:buFont typeface="DM Sans Light"/>
              <a:buChar char="●"/>
            </a:pPr>
            <a:r>
              <a:rPr lang="en" sz="1900">
                <a:solidFill>
                  <a:schemeClr val="dk1"/>
                </a:solidFill>
                <a:latin typeface="DM Sans Light"/>
                <a:ea typeface="DM Sans Light"/>
                <a:cs typeface="DM Sans Light"/>
                <a:sym typeface="DM Sans Light"/>
              </a:rPr>
              <a:t>Each row represents one of the three vehicle categories, with the final row as the weighted average</a:t>
            </a:r>
            <a:endParaRPr sz="1900">
              <a:solidFill>
                <a:schemeClr val="dk1"/>
              </a:solidFill>
              <a:latin typeface="DM Sans Light"/>
              <a:ea typeface="DM Sans Light"/>
              <a:cs typeface="DM Sans Light"/>
              <a:sym typeface="DM Sans Light"/>
            </a:endParaRPr>
          </a:p>
          <a:p>
            <a:pPr indent="-300355" lvl="1" marL="914400" rtl="0" algn="l">
              <a:lnSpc>
                <a:spcPct val="100000"/>
              </a:lnSpc>
              <a:spcBef>
                <a:spcPts val="1000"/>
              </a:spcBef>
              <a:spcAft>
                <a:spcPts val="0"/>
              </a:spcAft>
              <a:buClr>
                <a:schemeClr val="dk1"/>
              </a:buClr>
              <a:buSzPct val="100000"/>
              <a:buFont typeface="DM Sans Light"/>
              <a:buChar char="○"/>
            </a:pPr>
            <a:r>
              <a:rPr lang="en" sz="1614">
                <a:solidFill>
                  <a:schemeClr val="dk1"/>
                </a:solidFill>
                <a:latin typeface="DM Sans Light"/>
                <a:ea typeface="DM Sans Light"/>
                <a:cs typeface="DM Sans Light"/>
                <a:sym typeface="DM Sans Light"/>
              </a:rPr>
              <a:t>Sedans</a:t>
            </a:r>
            <a:endParaRPr sz="1614">
              <a:solidFill>
                <a:schemeClr val="dk1"/>
              </a:solidFill>
              <a:latin typeface="DM Sans Light"/>
              <a:ea typeface="DM Sans Light"/>
              <a:cs typeface="DM Sans Light"/>
              <a:sym typeface="DM Sans Light"/>
            </a:endParaRPr>
          </a:p>
          <a:p>
            <a:pPr indent="-300355" lvl="1" marL="914400" rtl="0" algn="l">
              <a:lnSpc>
                <a:spcPct val="100000"/>
              </a:lnSpc>
              <a:spcBef>
                <a:spcPts val="1000"/>
              </a:spcBef>
              <a:spcAft>
                <a:spcPts val="0"/>
              </a:spcAft>
              <a:buClr>
                <a:schemeClr val="dk1"/>
              </a:buClr>
              <a:buSzPct val="100000"/>
              <a:buFont typeface="DM Sans Light"/>
              <a:buChar char="○"/>
            </a:pPr>
            <a:r>
              <a:rPr lang="en" sz="1614">
                <a:solidFill>
                  <a:schemeClr val="dk1"/>
                </a:solidFill>
                <a:latin typeface="DM Sans Light"/>
                <a:ea typeface="DM Sans Light"/>
                <a:cs typeface="DM Sans Light"/>
                <a:sym typeface="DM Sans Light"/>
              </a:rPr>
              <a:t>SUVs</a:t>
            </a:r>
            <a:endParaRPr sz="1614">
              <a:solidFill>
                <a:schemeClr val="dk1"/>
              </a:solidFill>
              <a:latin typeface="DM Sans Light"/>
              <a:ea typeface="DM Sans Light"/>
              <a:cs typeface="DM Sans Light"/>
              <a:sym typeface="DM Sans Light"/>
            </a:endParaRPr>
          </a:p>
          <a:p>
            <a:pPr indent="-300355" lvl="1" marL="914400" rtl="0" algn="l">
              <a:lnSpc>
                <a:spcPct val="100000"/>
              </a:lnSpc>
              <a:spcBef>
                <a:spcPts val="1000"/>
              </a:spcBef>
              <a:spcAft>
                <a:spcPts val="0"/>
              </a:spcAft>
              <a:buClr>
                <a:schemeClr val="dk1"/>
              </a:buClr>
              <a:buSzPct val="100000"/>
              <a:buFont typeface="DM Sans Light"/>
              <a:buChar char="○"/>
            </a:pPr>
            <a:r>
              <a:rPr lang="en" sz="1614">
                <a:solidFill>
                  <a:schemeClr val="dk1"/>
                </a:solidFill>
                <a:latin typeface="DM Sans Light"/>
                <a:ea typeface="DM Sans Light"/>
                <a:cs typeface="DM Sans Light"/>
                <a:sym typeface="DM Sans Light"/>
              </a:rPr>
              <a:t>Trucks</a:t>
            </a:r>
            <a:endParaRPr sz="1614">
              <a:solidFill>
                <a:schemeClr val="dk1"/>
              </a:solidFill>
              <a:latin typeface="DM Sans Light"/>
              <a:ea typeface="DM Sans Light"/>
              <a:cs typeface="DM Sans Light"/>
              <a:sym typeface="DM Sans Light"/>
            </a:endParaRPr>
          </a:p>
          <a:p>
            <a:pPr indent="-300355" lvl="1" marL="914400" rtl="0" algn="l">
              <a:spcBef>
                <a:spcPts val="1000"/>
              </a:spcBef>
              <a:spcAft>
                <a:spcPts val="1000"/>
              </a:spcAft>
              <a:buClr>
                <a:schemeClr val="dk1"/>
              </a:buClr>
              <a:buSzPct val="100000"/>
              <a:buFont typeface="DM Sans Light"/>
              <a:buChar char="○"/>
            </a:pPr>
            <a:r>
              <a:rPr lang="en" sz="1614">
                <a:solidFill>
                  <a:schemeClr val="dk1"/>
                </a:solidFill>
                <a:latin typeface="DM Sans Light"/>
                <a:ea typeface="DM Sans Light"/>
                <a:cs typeface="DM Sans Light"/>
                <a:sym typeface="DM Sans Light"/>
              </a:rPr>
              <a:t>Weighted Average: S</a:t>
            </a:r>
            <a:r>
              <a:rPr lang="en" sz="1614">
                <a:solidFill>
                  <a:schemeClr val="dk1"/>
                </a:solidFill>
                <a:latin typeface="DM Sans Light"/>
                <a:ea typeface="DM Sans Light"/>
                <a:cs typeface="DM Sans Light"/>
                <a:sym typeface="DM Sans Light"/>
              </a:rPr>
              <a:t>edans (15.8%), SUVs (48.3%), Trucks (35.9%)</a:t>
            </a:r>
            <a:endParaRPr sz="1614">
              <a:solidFill>
                <a:schemeClr val="dk1"/>
              </a:solidFill>
              <a:latin typeface="DM Sans Light"/>
              <a:ea typeface="DM Sans Light"/>
              <a:cs typeface="DM Sans Light"/>
              <a:sym typeface="DM Sans Light"/>
            </a:endParaRPr>
          </a:p>
        </p:txBody>
      </p:sp>
      <p:pic>
        <p:nvPicPr>
          <p:cNvPr id="333" name="Google Shape;333;p48" title="cost_breakdown_overview.png"/>
          <p:cNvPicPr preferRelativeResize="0"/>
          <p:nvPr/>
        </p:nvPicPr>
        <p:blipFill>
          <a:blip r:embed="rId3">
            <a:alphaModFix/>
          </a:blip>
          <a:stretch>
            <a:fillRect/>
          </a:stretch>
        </p:blipFill>
        <p:spPr>
          <a:xfrm>
            <a:off x="4572000" y="459763"/>
            <a:ext cx="4059499" cy="42239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39" name="Google Shape;339;p49"/>
          <p:cNvSpPr txBox="1"/>
          <p:nvPr>
            <p:ph idx="1" type="body"/>
          </p:nvPr>
        </p:nvSpPr>
        <p:spPr>
          <a:xfrm>
            <a:off x="311700" y="1152475"/>
            <a:ext cx="8520600" cy="1419300"/>
          </a:xfrm>
          <a:prstGeom prst="rect">
            <a:avLst/>
          </a:prstGeom>
        </p:spPr>
        <p:txBody>
          <a:bodyPr anchorCtr="0" anchor="t" bIns="91425" lIns="91425" spcFirstLastPara="1" rIns="91425" wrap="square" tIns="91425">
            <a:normAutofit/>
          </a:bodyPr>
          <a:lstStyle/>
          <a:p>
            <a:pPr indent="-330200" lvl="0" marL="457200" rtl="0" algn="l">
              <a:spcBef>
                <a:spcPts val="1000"/>
              </a:spcBef>
              <a:spcAft>
                <a:spcPts val="1200"/>
              </a:spcAft>
              <a:buClr>
                <a:schemeClr val="dk1"/>
              </a:buClr>
              <a:buSzPts val="1600"/>
              <a:buFont typeface="DM Sans Light"/>
              <a:buChar char="●"/>
            </a:pPr>
            <a:r>
              <a:rPr lang="en" sz="1600">
                <a:solidFill>
                  <a:schemeClr val="dk1"/>
                </a:solidFill>
                <a:latin typeface="DM Sans Light"/>
                <a:ea typeface="DM Sans Light"/>
                <a:cs typeface="DM Sans Light"/>
                <a:sym typeface="DM Sans Light"/>
              </a:rPr>
              <a:t>Under scenario 3 (modeled by the modified random walk), at small and very large levels of government expenditure, most funding should go towards EV subsidies; at intermediate levels of </a:t>
            </a:r>
            <a:r>
              <a:rPr lang="en" sz="1600">
                <a:solidFill>
                  <a:schemeClr val="dk1"/>
                </a:solidFill>
                <a:latin typeface="DM Sans Light"/>
                <a:ea typeface="DM Sans Light"/>
                <a:cs typeface="DM Sans Light"/>
                <a:sym typeface="DM Sans Light"/>
              </a:rPr>
              <a:t>expenditure</a:t>
            </a:r>
            <a:r>
              <a:rPr lang="en" sz="1600">
                <a:solidFill>
                  <a:schemeClr val="dk1"/>
                </a:solidFill>
                <a:latin typeface="DM Sans Light"/>
                <a:ea typeface="DM Sans Light"/>
                <a:cs typeface="DM Sans Light"/>
                <a:sym typeface="DM Sans Light"/>
              </a:rPr>
              <a:t>, most funding should go </a:t>
            </a:r>
            <a:r>
              <a:rPr lang="en" sz="1600">
                <a:solidFill>
                  <a:schemeClr val="dk1"/>
                </a:solidFill>
                <a:latin typeface="DM Sans Light"/>
                <a:ea typeface="DM Sans Light"/>
                <a:cs typeface="DM Sans Light"/>
                <a:sym typeface="DM Sans Light"/>
              </a:rPr>
              <a:t>towards</a:t>
            </a:r>
            <a:r>
              <a:rPr lang="en" sz="1600">
                <a:solidFill>
                  <a:schemeClr val="dk1"/>
                </a:solidFill>
                <a:latin typeface="DM Sans Light"/>
                <a:ea typeface="DM Sans Light"/>
                <a:cs typeface="DM Sans Light"/>
                <a:sym typeface="DM Sans Light"/>
              </a:rPr>
              <a:t> renewable energy generation</a:t>
            </a:r>
            <a:endParaRPr sz="1600">
              <a:solidFill>
                <a:schemeClr val="dk1"/>
              </a:solidFill>
              <a:latin typeface="DM Sans Light"/>
              <a:ea typeface="DM Sans Light"/>
              <a:cs typeface="DM Sans Light"/>
              <a:sym typeface="DM Sans Light"/>
            </a:endParaRPr>
          </a:p>
        </p:txBody>
      </p:sp>
      <p:sp>
        <p:nvSpPr>
          <p:cNvPr id="340" name="Google Shape;340;p49"/>
          <p:cNvSpPr txBox="1"/>
          <p:nvPr/>
        </p:nvSpPr>
        <p:spPr>
          <a:xfrm>
            <a:off x="6506700" y="2617700"/>
            <a:ext cx="2325600" cy="18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Light"/>
                <a:ea typeface="DM Sans Light"/>
                <a:cs typeface="DM Sans Light"/>
                <a:sym typeface="DM Sans Light"/>
              </a:rPr>
              <a:t>This table shows the dollar and percentage allocation of funds, split between subsidizing EVs and renewable energy, at nine levels of government expenditure</a:t>
            </a:r>
            <a:endParaRPr>
              <a:solidFill>
                <a:schemeClr val="dk1"/>
              </a:solidFill>
              <a:latin typeface="DM Sans Light"/>
              <a:ea typeface="DM Sans Light"/>
              <a:cs typeface="DM Sans Light"/>
              <a:sym typeface="DM Sans Light"/>
            </a:endParaRPr>
          </a:p>
        </p:txBody>
      </p:sp>
      <p:pic>
        <p:nvPicPr>
          <p:cNvPr id="341" name="Google Shape;341;p49" title="expenditure_df.png"/>
          <p:cNvPicPr preferRelativeResize="0"/>
          <p:nvPr/>
        </p:nvPicPr>
        <p:blipFill>
          <a:blip r:embed="rId3">
            <a:alphaModFix/>
          </a:blip>
          <a:stretch>
            <a:fillRect/>
          </a:stretch>
        </p:blipFill>
        <p:spPr>
          <a:xfrm>
            <a:off x="311700" y="2706525"/>
            <a:ext cx="6174700" cy="1920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example</a:t>
            </a:r>
            <a:endParaRPr/>
          </a:p>
        </p:txBody>
      </p:sp>
      <p:sp>
        <p:nvSpPr>
          <p:cNvPr id="347" name="Google Shape;347;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600">
                <a:solidFill>
                  <a:schemeClr val="dk1"/>
                </a:solidFill>
                <a:latin typeface="DM Sans Light"/>
                <a:ea typeface="DM Sans Light"/>
                <a:cs typeface="DM Sans Light"/>
                <a:sym typeface="DM Sans Light"/>
              </a:rPr>
              <a:t>While exact spending is difficult to quantify, the government allocates billions of dollars each year towards emissions reduction efforts. The Inflation Reduction Act (2022) will commit $393.7 billion on emissions reduction over the next decade (McKinsey, 2022), while the Bipartisan Infrastructure Law (2021) allocates $100 billion towards clean infrastructure over five years.</a:t>
            </a:r>
            <a:endParaRPr sz="1600">
              <a:solidFill>
                <a:schemeClr val="dk1"/>
              </a:solidFill>
              <a:latin typeface="DM Sans Light"/>
              <a:ea typeface="DM Sans Light"/>
              <a:cs typeface="DM Sans Light"/>
              <a:sym typeface="DM Sans Light"/>
            </a:endParaRPr>
          </a:p>
          <a:p>
            <a:pPr indent="0" lvl="0" marL="0" rtl="0" algn="l">
              <a:spcBef>
                <a:spcPts val="1200"/>
              </a:spcBef>
              <a:spcAft>
                <a:spcPts val="0"/>
              </a:spcAft>
              <a:buNone/>
            </a:pPr>
            <a:r>
              <a:rPr lang="en" sz="1600">
                <a:solidFill>
                  <a:schemeClr val="dk1"/>
                </a:solidFill>
                <a:latin typeface="DM Sans Light"/>
                <a:ea typeface="DM Sans Light"/>
                <a:cs typeface="DM Sans Light"/>
                <a:sym typeface="DM Sans Light"/>
              </a:rPr>
              <a:t>To understand how effective spending is on emissions reductions, the United States produces roughly</a:t>
            </a:r>
            <a:r>
              <a:rPr lang="en" sz="1600">
                <a:solidFill>
                  <a:schemeClr val="dk1"/>
                </a:solidFill>
              </a:rPr>
              <a:t> </a:t>
            </a:r>
            <a:r>
              <a:rPr b="1" lang="en" sz="1600">
                <a:solidFill>
                  <a:schemeClr val="dk1"/>
                </a:solidFill>
              </a:rPr>
              <a:t>6.343 billion metric tons</a:t>
            </a:r>
            <a:r>
              <a:rPr lang="en" sz="1600">
                <a:solidFill>
                  <a:schemeClr val="dk1"/>
                </a:solidFill>
              </a:rPr>
              <a:t> </a:t>
            </a:r>
            <a:r>
              <a:rPr lang="en" sz="1600">
                <a:solidFill>
                  <a:schemeClr val="dk1"/>
                </a:solidFill>
                <a:latin typeface="DM Sans Light"/>
                <a:ea typeface="DM Sans Light"/>
                <a:cs typeface="DM Sans Light"/>
                <a:sym typeface="DM Sans Light"/>
              </a:rPr>
              <a:t>of greenhouse gasses each year, with</a:t>
            </a:r>
            <a:r>
              <a:rPr lang="en" sz="1600">
                <a:solidFill>
                  <a:schemeClr val="dk1"/>
                </a:solidFill>
              </a:rPr>
              <a:t> </a:t>
            </a:r>
            <a:r>
              <a:rPr b="1" lang="en" sz="1600">
                <a:solidFill>
                  <a:schemeClr val="dk1"/>
                </a:solidFill>
              </a:rPr>
              <a:t>5.053 billion metric tons</a:t>
            </a:r>
            <a:r>
              <a:rPr lang="en" sz="1600">
                <a:solidFill>
                  <a:schemeClr val="dk1"/>
                </a:solidFill>
              </a:rPr>
              <a:t> </a:t>
            </a:r>
            <a:r>
              <a:rPr lang="en" sz="1600">
                <a:solidFill>
                  <a:schemeClr val="dk1"/>
                </a:solidFill>
                <a:latin typeface="DM Sans Light"/>
                <a:ea typeface="DM Sans Light"/>
                <a:cs typeface="DM Sans Light"/>
                <a:sym typeface="DM Sans Light"/>
              </a:rPr>
              <a:t>(79.66%) due to CO</a:t>
            </a:r>
            <a:r>
              <a:rPr baseline="-25000" lang="en" sz="1600">
                <a:solidFill>
                  <a:schemeClr val="dk1"/>
                </a:solidFill>
                <a:latin typeface="DM Sans Light"/>
                <a:ea typeface="DM Sans Light"/>
                <a:cs typeface="DM Sans Light"/>
                <a:sym typeface="DM Sans Light"/>
              </a:rPr>
              <a:t>2</a:t>
            </a:r>
            <a:r>
              <a:rPr lang="en" sz="1600">
                <a:solidFill>
                  <a:schemeClr val="dk1"/>
                </a:solidFill>
                <a:latin typeface="DM Sans Light"/>
                <a:ea typeface="DM Sans Light"/>
                <a:cs typeface="DM Sans Light"/>
                <a:sym typeface="DM Sans Light"/>
              </a:rPr>
              <a:t> emissions (EPA, 2024). </a:t>
            </a:r>
            <a:endParaRPr sz="1600">
              <a:solidFill>
                <a:schemeClr val="dk1"/>
              </a:solidFill>
              <a:latin typeface="DM Sans Light"/>
              <a:ea typeface="DM Sans Light"/>
              <a:cs typeface="DM Sans Light"/>
              <a:sym typeface="DM Sans Light"/>
            </a:endParaRPr>
          </a:p>
          <a:p>
            <a:pPr indent="0" lvl="0" marL="0" rtl="0" algn="l">
              <a:spcBef>
                <a:spcPts val="1200"/>
              </a:spcBef>
              <a:spcAft>
                <a:spcPts val="1200"/>
              </a:spcAft>
              <a:buNone/>
            </a:pPr>
            <a:r>
              <a:rPr lang="en" sz="1600">
                <a:solidFill>
                  <a:schemeClr val="dk1"/>
                </a:solidFill>
                <a:latin typeface="DM Sans Light"/>
                <a:ea typeface="DM Sans Light"/>
                <a:cs typeface="DM Sans Light"/>
                <a:sym typeface="DM Sans Light"/>
              </a:rPr>
              <a:t>Assuming the government spends roughly</a:t>
            </a:r>
            <a:r>
              <a:rPr lang="en" sz="1600">
                <a:solidFill>
                  <a:schemeClr val="dk1"/>
                </a:solidFill>
              </a:rPr>
              <a:t> </a:t>
            </a:r>
            <a:r>
              <a:rPr b="1" lang="en" sz="1600">
                <a:solidFill>
                  <a:schemeClr val="dk1"/>
                </a:solidFill>
              </a:rPr>
              <a:t>$100 billion</a:t>
            </a:r>
            <a:r>
              <a:rPr lang="en" sz="1600">
                <a:solidFill>
                  <a:schemeClr val="dk1"/>
                </a:solidFill>
              </a:rPr>
              <a:t> </a:t>
            </a:r>
            <a:r>
              <a:rPr lang="en" sz="1600">
                <a:solidFill>
                  <a:schemeClr val="dk1"/>
                </a:solidFill>
                <a:latin typeface="DM Sans Light"/>
                <a:ea typeface="DM Sans Light"/>
                <a:cs typeface="DM Sans Light"/>
                <a:sym typeface="DM Sans Light"/>
              </a:rPr>
              <a:t>on carbon emissions reductions, our projections assume a </a:t>
            </a:r>
            <a:r>
              <a:rPr b="1" lang="en" sz="1600">
                <a:solidFill>
                  <a:schemeClr val="dk1"/>
                </a:solidFill>
              </a:rPr>
              <a:t>reduction of 0.2924 billion metric tons</a:t>
            </a:r>
            <a:r>
              <a:rPr lang="en" sz="1600">
                <a:solidFill>
                  <a:schemeClr val="dk1"/>
                </a:solidFill>
              </a:rPr>
              <a:t> </a:t>
            </a:r>
            <a:r>
              <a:rPr lang="en" sz="1600">
                <a:solidFill>
                  <a:schemeClr val="dk1"/>
                </a:solidFill>
                <a:latin typeface="DM Sans Light"/>
                <a:ea typeface="DM Sans Light"/>
                <a:cs typeface="DM Sans Light"/>
                <a:sym typeface="DM Sans Light"/>
              </a:rPr>
              <a:t>of CO</a:t>
            </a:r>
            <a:r>
              <a:rPr baseline="-25000" lang="en" sz="1600">
                <a:solidFill>
                  <a:schemeClr val="dk1"/>
                </a:solidFill>
                <a:latin typeface="DM Sans Light"/>
                <a:ea typeface="DM Sans Light"/>
                <a:cs typeface="DM Sans Light"/>
                <a:sym typeface="DM Sans Light"/>
              </a:rPr>
              <a:t>2</a:t>
            </a:r>
            <a:r>
              <a:rPr lang="en" sz="1600">
                <a:solidFill>
                  <a:schemeClr val="dk1"/>
                </a:solidFill>
                <a:latin typeface="DM Sans Light"/>
                <a:ea typeface="DM Sans Light"/>
                <a:cs typeface="DM Sans Light"/>
                <a:sym typeface="DM Sans Light"/>
              </a:rPr>
              <a:t> yearly, about 4.61% of total greenhouse emissions, and</a:t>
            </a:r>
            <a:r>
              <a:rPr lang="en" sz="1600">
                <a:solidFill>
                  <a:schemeClr val="dk1"/>
                </a:solidFill>
              </a:rPr>
              <a:t> </a:t>
            </a:r>
            <a:r>
              <a:rPr b="1" lang="en" sz="1600">
                <a:solidFill>
                  <a:schemeClr val="dk1"/>
                </a:solidFill>
              </a:rPr>
              <a:t>5.79%</a:t>
            </a:r>
            <a:r>
              <a:rPr lang="en" sz="1600">
                <a:solidFill>
                  <a:schemeClr val="dk1"/>
                </a:solidFill>
                <a:latin typeface="DM Sans Light"/>
                <a:ea typeface="DM Sans Light"/>
                <a:cs typeface="DM Sans Light"/>
                <a:sym typeface="DM Sans Light"/>
              </a:rPr>
              <a:t> of CO</a:t>
            </a:r>
            <a:r>
              <a:rPr baseline="-25000" lang="en" sz="1600">
                <a:solidFill>
                  <a:schemeClr val="dk1"/>
                </a:solidFill>
                <a:latin typeface="DM Sans Light"/>
                <a:ea typeface="DM Sans Light"/>
                <a:cs typeface="DM Sans Light"/>
                <a:sym typeface="DM Sans Light"/>
              </a:rPr>
              <a:t>2</a:t>
            </a:r>
            <a:r>
              <a:rPr lang="en" sz="1600">
                <a:solidFill>
                  <a:schemeClr val="dk1"/>
                </a:solidFill>
                <a:latin typeface="DM Sans Light"/>
                <a:ea typeface="DM Sans Light"/>
                <a:cs typeface="DM Sans Light"/>
                <a:sym typeface="DM Sans Light"/>
              </a:rPr>
              <a:t> related emissions.</a:t>
            </a:r>
            <a:endParaRPr sz="1600">
              <a:solidFill>
                <a:schemeClr val="dk1"/>
              </a:solidFill>
              <a:latin typeface="DM Sans Light"/>
              <a:ea typeface="DM Sans Light"/>
              <a:cs typeface="DM Sans Light"/>
              <a:sym typeface="DM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latin typeface="DM Sans SemiBold"/>
                <a:ea typeface="DM Sans SemiBold"/>
                <a:cs typeface="DM Sans SemiBold"/>
                <a:sym typeface="DM Sans SemiBold"/>
              </a:rPr>
              <a:t>Lifetime Emissions Data</a:t>
            </a:r>
            <a:endParaRPr sz="1400">
              <a:solidFill>
                <a:schemeClr val="dk1"/>
              </a:solidFill>
              <a:latin typeface="DM Sans SemiBold"/>
              <a:ea typeface="DM Sans SemiBold"/>
              <a:cs typeface="DM Sans SemiBold"/>
              <a:sym typeface="DM Sans SemiBold"/>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3">
                  <a:extLst>
                    <a:ext uri="{A12FA001-AC4F-418D-AE19-62706E023703}">
                      <ahyp:hlinkClr val="tx"/>
                    </a:ext>
                  </a:extLst>
                </a:hlinkClick>
              </a:rPr>
              <a:t>Carbon Dioxide Emissions Coefficients by Fuel</a:t>
            </a:r>
            <a:endParaRPr sz="1400">
              <a:solidFill>
                <a:schemeClr val="hlink"/>
              </a:solidFill>
              <a:latin typeface="DM Sans Light"/>
              <a:ea typeface="DM Sans Light"/>
              <a:cs typeface="DM Sans Light"/>
              <a:sym typeface="DM Sans Light"/>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4">
                  <a:extLst>
                    <a:ext uri="{A12FA001-AC4F-418D-AE19-62706E023703}">
                      <ahyp:hlinkClr val="tx"/>
                    </a:ext>
                  </a:extLst>
                </a:hlinkClick>
              </a:rPr>
              <a:t>Emission factors in kg CO2-equivalent per unit</a:t>
            </a:r>
            <a:endParaRPr sz="1400">
              <a:solidFill>
                <a:schemeClr val="hlink"/>
              </a:solidFill>
              <a:latin typeface="DM Sans Light"/>
              <a:ea typeface="DM Sans Light"/>
              <a:cs typeface="DM Sans Light"/>
              <a:sym typeface="DM Sans Light"/>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5">
                  <a:extLst>
                    <a:ext uri="{A12FA001-AC4F-418D-AE19-62706E023703}">
                      <ahyp:hlinkClr val="tx"/>
                    </a:ext>
                  </a:extLst>
                </a:hlinkClick>
              </a:rPr>
              <a:t>Carbon footprint distributions of lithium-ion batteries and their materials</a:t>
            </a:r>
            <a:endParaRPr sz="1400">
              <a:solidFill>
                <a:schemeClr val="hlink"/>
              </a:solidFill>
              <a:latin typeface="DM Sans Light"/>
              <a:ea typeface="DM Sans Light"/>
              <a:cs typeface="DM Sans Light"/>
              <a:sym typeface="DM Sans Light"/>
            </a:endParaRPr>
          </a:p>
          <a:p>
            <a:pPr indent="0" lvl="0" marL="0" rtl="0" algn="l">
              <a:spcBef>
                <a:spcPts val="0"/>
              </a:spcBef>
              <a:spcAft>
                <a:spcPts val="0"/>
              </a:spcAft>
              <a:buNone/>
            </a:pPr>
            <a:r>
              <a:t/>
            </a:r>
            <a:endParaRPr sz="1400">
              <a:solidFill>
                <a:schemeClr val="hlink"/>
              </a:solidFill>
              <a:latin typeface="DM Sans SemiBold"/>
              <a:ea typeface="DM Sans SemiBold"/>
              <a:cs typeface="DM Sans SemiBold"/>
              <a:sym typeface="DM Sans SemiBold"/>
            </a:endParaRPr>
          </a:p>
          <a:p>
            <a:pPr indent="0" lvl="0" marL="0" rtl="0" algn="l">
              <a:spcBef>
                <a:spcPts val="0"/>
              </a:spcBef>
              <a:spcAft>
                <a:spcPts val="0"/>
              </a:spcAft>
              <a:buNone/>
            </a:pPr>
            <a:r>
              <a:rPr lang="en" sz="1400">
                <a:solidFill>
                  <a:schemeClr val="dk1"/>
                </a:solidFill>
                <a:latin typeface="DM Sans SemiBold"/>
                <a:ea typeface="DM Sans SemiBold"/>
                <a:cs typeface="DM Sans SemiBold"/>
                <a:sym typeface="DM Sans SemiBold"/>
              </a:rPr>
              <a:t>Energy Generation &amp; Pricing</a:t>
            </a:r>
            <a:endParaRPr sz="1400">
              <a:solidFill>
                <a:schemeClr val="dk1"/>
              </a:solidFill>
              <a:latin typeface="DM Sans SemiBold"/>
              <a:ea typeface="DM Sans SemiBold"/>
              <a:cs typeface="DM Sans SemiBold"/>
              <a:sym typeface="DM Sans SemiBold"/>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6">
                  <a:extLst>
                    <a:ext uri="{A12FA001-AC4F-418D-AE19-62706E023703}">
                      <ahyp:hlinkClr val="tx"/>
                    </a:ext>
                  </a:extLst>
                </a:hlinkClick>
              </a:rPr>
              <a:t>Projected Costs of Generating Electricity 2020 – Analysis - IEA</a:t>
            </a:r>
            <a:endParaRPr sz="1400">
              <a:solidFill>
                <a:schemeClr val="hlink"/>
              </a:solidFill>
              <a:latin typeface="DM Sans Light"/>
              <a:ea typeface="DM Sans Light"/>
              <a:cs typeface="DM Sans Light"/>
              <a:sym typeface="DM Sans Light"/>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7">
                  <a:extLst>
                    <a:ext uri="{A12FA001-AC4F-418D-AE19-62706E023703}">
                      <ahyp:hlinkClr val="tx"/>
                    </a:ext>
                  </a:extLst>
                </a:hlinkClick>
              </a:rPr>
              <a:t>Electricity Data Browser</a:t>
            </a:r>
            <a:endParaRPr sz="1400">
              <a:solidFill>
                <a:schemeClr val="hlink"/>
              </a:solidFill>
              <a:latin typeface="DM Sans Light"/>
              <a:ea typeface="DM Sans Light"/>
              <a:cs typeface="DM Sans Light"/>
              <a:sym typeface="DM Sans Light"/>
            </a:endParaRPr>
          </a:p>
          <a:p>
            <a:pPr indent="0" lvl="0" marL="0" rtl="0" algn="l">
              <a:spcBef>
                <a:spcPts val="0"/>
              </a:spcBef>
              <a:spcAft>
                <a:spcPts val="0"/>
              </a:spcAft>
              <a:buNone/>
            </a:pPr>
            <a:r>
              <a:t/>
            </a:r>
            <a:endParaRPr sz="1400">
              <a:solidFill>
                <a:schemeClr val="hlink"/>
              </a:solidFill>
              <a:latin typeface="DM Sans ExtraLight"/>
              <a:ea typeface="DM Sans ExtraLight"/>
              <a:cs typeface="DM Sans ExtraLight"/>
              <a:sym typeface="DM Sans ExtraLight"/>
            </a:endParaRPr>
          </a:p>
          <a:p>
            <a:pPr indent="0" lvl="0" marL="0" rtl="0" algn="l">
              <a:spcBef>
                <a:spcPts val="0"/>
              </a:spcBef>
              <a:spcAft>
                <a:spcPts val="0"/>
              </a:spcAft>
              <a:buNone/>
            </a:pPr>
            <a:r>
              <a:rPr lang="en" sz="1400">
                <a:solidFill>
                  <a:schemeClr val="dk1"/>
                </a:solidFill>
                <a:latin typeface="DM Sans SemiBold"/>
                <a:ea typeface="DM Sans SemiBold"/>
                <a:cs typeface="DM Sans SemiBold"/>
                <a:sym typeface="DM Sans SemiBold"/>
              </a:rPr>
              <a:t>Renewables Generation Cost</a:t>
            </a:r>
            <a:endParaRPr sz="1400">
              <a:solidFill>
                <a:schemeClr val="dk1"/>
              </a:solidFill>
              <a:latin typeface="DM Sans SemiBold"/>
              <a:ea typeface="DM Sans SemiBold"/>
              <a:cs typeface="DM Sans SemiBold"/>
              <a:sym typeface="DM Sans SemiBold"/>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8">
                  <a:extLst>
                    <a:ext uri="{A12FA001-AC4F-418D-AE19-62706E023703}">
                      <ahyp:hlinkClr val="tx"/>
                    </a:ext>
                  </a:extLst>
                </a:hlinkClick>
              </a:rPr>
              <a:t>2025 Solar Panel Cost</a:t>
            </a:r>
            <a:endParaRPr sz="1400">
              <a:solidFill>
                <a:schemeClr val="hlink"/>
              </a:solidFill>
              <a:latin typeface="DM Sans Light"/>
              <a:ea typeface="DM Sans Light"/>
              <a:cs typeface="DM Sans Light"/>
              <a:sym typeface="DM Sans Light"/>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9">
                  <a:extLst>
                    <a:ext uri="{A12FA001-AC4F-418D-AE19-62706E023703}">
                      <ahyp:hlinkClr val="tx"/>
                    </a:ext>
                  </a:extLst>
                </a:hlinkClick>
              </a:rPr>
              <a:t>2022 Cost of Wind Energy Review</a:t>
            </a:r>
            <a:endParaRPr sz="1400">
              <a:solidFill>
                <a:schemeClr val="hlink"/>
              </a:solidFill>
              <a:latin typeface="DM Sans Light"/>
              <a:ea typeface="DM Sans Light"/>
              <a:cs typeface="DM Sans Light"/>
              <a:sym typeface="DM Sans Light"/>
            </a:endParaRPr>
          </a:p>
          <a:p>
            <a:pPr indent="0" lvl="0" marL="0" rtl="0" algn="l">
              <a:spcBef>
                <a:spcPts val="0"/>
              </a:spcBef>
              <a:spcAft>
                <a:spcPts val="0"/>
              </a:spcAft>
              <a:buNone/>
            </a:pPr>
            <a:r>
              <a:rPr lang="en" sz="1400" u="sng">
                <a:solidFill>
                  <a:schemeClr val="folHlink"/>
                </a:solidFill>
                <a:latin typeface="DM Sans Light"/>
                <a:ea typeface="DM Sans Light"/>
                <a:cs typeface="DM Sans Light"/>
                <a:sym typeface="DM Sans Light"/>
                <a:hlinkClick r:id="rId10">
                  <a:extLst>
                    <a:ext uri="{A12FA001-AC4F-418D-AE19-62706E023703}">
                      <ahyp:hlinkClr val="tx"/>
                    </a:ext>
                  </a:extLst>
                </a:hlinkClick>
              </a:rPr>
              <a:t>Life Cycle Assessment of Greenhouse Gas Emissions for Floating Offshore Wind Energy in California</a:t>
            </a:r>
            <a:endParaRPr sz="1400">
              <a:solidFill>
                <a:schemeClr val="hlink"/>
              </a:solidFill>
              <a:latin typeface="DM Sans ExtraLight"/>
              <a:ea typeface="DM Sans ExtraLight"/>
              <a:cs typeface="DM Sans ExtraLight"/>
              <a:sym typeface="DM Sans ExtraLight"/>
            </a:endParaRPr>
          </a:p>
        </p:txBody>
      </p:sp>
      <p:sp>
        <p:nvSpPr>
          <p:cNvPr id="353" name="Google Shape;35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r>
              <a:rPr lang="en"/>
              <a:t>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